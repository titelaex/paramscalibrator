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1"/>
  </p:notesMasterIdLst>
  <p:sldIdLst>
    <p:sldId id="292" r:id="rId2"/>
    <p:sldId id="257" r:id="rId3"/>
    <p:sldId id="284" r:id="rId4"/>
    <p:sldId id="285" r:id="rId5"/>
    <p:sldId id="260" r:id="rId6"/>
    <p:sldId id="261" r:id="rId7"/>
    <p:sldId id="295" r:id="rId8"/>
    <p:sldId id="263" r:id="rId9"/>
    <p:sldId id="287" r:id="rId10"/>
    <p:sldId id="288" r:id="rId11"/>
    <p:sldId id="290" r:id="rId12"/>
    <p:sldId id="277" r:id="rId13"/>
    <p:sldId id="278" r:id="rId14"/>
    <p:sldId id="279" r:id="rId15"/>
    <p:sldId id="280" r:id="rId16"/>
    <p:sldId id="281" r:id="rId17"/>
    <p:sldId id="272" r:id="rId18"/>
    <p:sldId id="282" r:id="rId19"/>
    <p:sldId id="28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11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1" d="100"/>
          <a:sy n="51" d="100"/>
        </p:scale>
        <p:origin x="288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885A7D-505C-4218-BCB8-560D5C17BB9B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B7597-39F9-491C-90E1-F385D25B6D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164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8B7597-39F9-491C-90E1-F385D25B6DA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40200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D5287-36FD-4D30-93D0-5E26E609679A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0124-684B-4887-882C-CBA606BD73A4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3B209-8E21-4BF8-BF16-EE1798512C30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5CF5B-B0B2-49F6-9CC0-BB384280F61E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3206D-DA0F-4100-AE2C-B1E9FCEF6D4F}" type="datetime1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A0442-76CF-480A-8636-183A2A3578C2}" type="datetime1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0FF23-48AC-4F4D-AFE5-7B7556834023}" type="datetime1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AABAC-2ED4-4C66-9BF9-ECA281D38451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BCDAC-E287-45C0-8510-E2CA0352394E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4E2EC-6C6A-460F-8082-C404C2D77A6E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504EB-207A-4480-A401-E95D6C51D63B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F10B9-8DEC-4C80-9E67-014F9EBB58A6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6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21.png"/><Relationship Id="rId7" Type="http://schemas.openxmlformats.org/officeDocument/2006/relationships/image" Target="../media/image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1967343"/>
            <a:ext cx="609600" cy="5715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62000" y="2329293"/>
            <a:ext cx="9001125" cy="1618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dirty="0">
                <a:solidFill>
                  <a:schemeClr val="bg1"/>
                </a:solidFill>
              </a:rPr>
              <a:t>Mathematical Optimization &amp; Data Processing for Physical Constant Calibration via ML</a:t>
            </a:r>
          </a:p>
          <a:p>
            <a:pPr algn="l">
              <a:lnSpc>
                <a:spcPts val="5940"/>
              </a:lnSpc>
            </a:pPr>
            <a:endParaRPr sz="5400" b="1" i="0" u="none" dirty="0">
              <a:solidFill>
                <a:srgbClr val="F8FAFC"/>
              </a:solidFill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3312153"/>
            <a:ext cx="800100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0" i="0" u="none" dirty="0">
                <a:solidFill>
                  <a:srgbClr val="94A3B8"/>
                </a:solidFill>
                <a:latin typeface="Inter"/>
              </a:rPr>
              <a:t>Instantaneous thermal constant calibration via machine learning.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581650"/>
            <a:ext cx="401002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 dirty="0">
                <a:solidFill>
                  <a:srgbClr val="F8FAFC"/>
                </a:solidFill>
                <a:latin typeface="Inter"/>
              </a:rPr>
              <a:t>Alexandra</a:t>
            </a:r>
            <a:r>
              <a:rPr lang="en-US" sz="1800" b="1" i="0" u="none" dirty="0">
                <a:solidFill>
                  <a:srgbClr val="F8FAFC"/>
                </a:solidFill>
                <a:latin typeface="Inter"/>
              </a:rPr>
              <a:t> Maria Titel</a:t>
            </a:r>
            <a:endParaRPr sz="1800" b="1" i="0" u="none" dirty="0">
              <a:solidFill>
                <a:srgbClr val="F8FAFC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5895975"/>
            <a:ext cx="401002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94A3B8"/>
                </a:solidFill>
                <a:latin typeface="Inter"/>
              </a:rPr>
              <a:t>Curious Minds — Software Summer School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77300" y="5895974"/>
            <a:ext cx="25527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50" b="0" i="0" u="none" dirty="0">
                <a:solidFill>
                  <a:srgbClr val="94A3B8"/>
                </a:solidFill>
                <a:latin typeface="Inter"/>
              </a:rPr>
              <a:t>Signal Processing &amp; Algorithms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11A71F-0659-2C74-C997-712DDB814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95" y="6216770"/>
            <a:ext cx="1231817" cy="509495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7F95CA-4DBB-9E05-1BC1-B44D3CE56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6723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86E6A13-CBCD-DD25-59A1-0E21A99C0AFB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0" y="2877442"/>
            <a:ext cx="5753100" cy="23221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Direct Inference from </a:t>
            </a:r>
            <a:r>
              <a:rPr lang="en-US" sz="3000" b="1" i="0" u="none" dirty="0">
                <a:solidFill>
                  <a:schemeClr val="bg1"/>
                </a:solidFill>
                <a:latin typeface="Inter"/>
              </a:rPr>
              <a:t>Sensor</a:t>
            </a:r>
            <a:r>
              <a:rPr sz="3000" b="1" i="0" u="none" dirty="0">
                <a:solidFill>
                  <a:schemeClr val="bg1"/>
                </a:solidFill>
                <a:latin typeface="Inter"/>
              </a:rPr>
              <a:t>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149992"/>
            <a:ext cx="4762500" cy="1114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0A1128"/>
                </a:solidFill>
                <a:latin typeface="Inter"/>
              </a:rPr>
              <a:t>Replacing iterative numerical solvers with direct ML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963469"/>
            <a:ext cx="476250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650" b="0" i="0" u="none" dirty="0">
                <a:solidFill>
                  <a:srgbClr val="475569"/>
                </a:solidFill>
                <a:latin typeface="Inter"/>
              </a:rPr>
              <a:t>Traditional calibration relies on expensive iterative solvers. We can extract physics-motivated features from the sensor window and map them to calibrated constants through a trained model.</a:t>
            </a:r>
            <a:endParaRPr sz="16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62700" y="3274126"/>
            <a:ext cx="500062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 dirty="0">
                <a:solidFill>
                  <a:srgbClr val="0F172A"/>
                </a:solidFill>
                <a:latin typeface="Inter"/>
              </a:rPr>
              <a:t>Core 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3640304"/>
            <a:ext cx="47625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A model trained once, offline, can match classical solvers on accuracy while replacing their per-calibration search with a single forward pass.</a:t>
            </a:r>
            <a:endParaRPr sz="1800" b="0" i="0" u="none" dirty="0">
              <a:solidFill>
                <a:srgbClr val="0A1128"/>
              </a:solidFill>
              <a:latin typeface="Inter Medium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62700" y="4533423"/>
            <a:ext cx="47625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1800" b="1" i="0" u="none" dirty="0">
                <a:solidFill>
                  <a:srgbClr val="009999"/>
                </a:solidFill>
                <a:latin typeface="Inter"/>
              </a:rPr>
              <a:t>Zero simulator rollouts per calibration.</a:t>
            </a:r>
            <a:endParaRPr sz="1800" b="1" i="0" u="none" dirty="0">
              <a:solidFill>
                <a:srgbClr val="009999"/>
              </a:solidFill>
              <a:latin typeface="Int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CA43B33-8155-24F1-D983-048F18882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2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Header Band"/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520380"/>
            <a:ext cx="3454449" cy="17697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49" y="3420367"/>
            <a:ext cx="3454449" cy="196974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3520380"/>
            <a:ext cx="3454449" cy="17697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Why constant calibration?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686942"/>
            <a:ext cx="109728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u="none">
                <a:solidFill>
                  <a:srgbClr val="475569"/>
                </a:solidFill>
                <a:latin typeface="Inter"/>
              </a:rPr>
              <a:t>Physical parameters degrade continuously. Uncalibrated models trigger false limits.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328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396680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Material Wear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85270"/>
            <a:ext cx="28448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Thermal degradation over time.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3649" y="3763267"/>
            <a:ext cx="34290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3649" y="4296667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Fabrication Variance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649" y="4685258"/>
            <a:ext cx="284484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Individual manufacturing tolerances.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2899" y="3863280"/>
            <a:ext cx="30480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2899" y="4396680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Dynamic Conditions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2899" y="4785270"/>
            <a:ext cx="28448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Changing ambient temperatures.</a:t>
            </a:r>
          </a:p>
        </p:txBody>
      </p:sp>
      <p:pic>
        <p:nvPicPr>
          <p:cNvPr id="17" name="Copied Picture 17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67E506D-FAFE-B4B8-7297-8188D9D41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1484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Header Band"/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386443"/>
            <a:ext cx="4212431" cy="13601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975183"/>
            <a:ext cx="4212431" cy="13601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PHYSICS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Heat Transfer Dynamics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231" y="1409700"/>
            <a:ext cx="6303168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691243"/>
            <a:ext cx="378297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1-Node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41733"/>
            <a:ext cx="3602831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Single thermal mass. Calibrates heat transfer </a:t>
            </a:r>
            <a:r>
              <a:rPr sz="1350" b="1" i="0" u="none">
                <a:solidFill>
                  <a:srgbClr val="475569"/>
                </a:solidFill>
                <a:latin typeface="Inter"/>
              </a:rPr>
              <a:t>hA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79983"/>
            <a:ext cx="378297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2-Node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30473"/>
            <a:ext cx="3602831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Winding and housing. Calibrates </a:t>
            </a:r>
            <a:r>
              <a:rPr sz="1350" b="1" i="0" u="none">
                <a:solidFill>
                  <a:srgbClr val="475569"/>
                </a:solidFill>
                <a:latin typeface="Inter"/>
              </a:rPr>
              <a:t>hA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and conduction </a:t>
            </a:r>
            <a:r>
              <a:rPr sz="1350" b="1" i="0" u="none">
                <a:solidFill>
                  <a:srgbClr val="475569"/>
                </a:solidFill>
                <a:latin typeface="Inter"/>
              </a:rPr>
              <a:t>k_wh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.</a:t>
            </a:r>
          </a:p>
        </p:txBody>
      </p:sp>
      <p:pic>
        <p:nvPicPr>
          <p:cNvPr id="14" name="Copied Picture 14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D59BB306-C0FE-9DFA-BCED-E816599EF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639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Header Band">
            <a:extLst>
              <a:ext uri="{FF2B5EF4-FFF2-40B4-BE49-F238E27FC236}">
                <a16:creationId xmlns:a16="http://schemas.microsoft.com/office/drawing/2014/main" id="{1735D2A8-E785-0DB1-F527-4495CF6EE553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2241053"/>
            <a:ext cx="8572500" cy="20082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85000"/>
                  </a:schemeClr>
                </a:solidFill>
                <a:latin typeface="Inter"/>
              </a:rPr>
              <a:t>PHYSICS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Fundamental Equations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517" y="2698253"/>
            <a:ext cx="7720965" cy="182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sz="1200" b="1" i="0" u="none" dirty="0">
                <a:solidFill>
                  <a:srgbClr val="94A3B8"/>
                </a:solidFill>
                <a:latin typeface="Inter"/>
              </a:rPr>
              <a:t>ENERGY BALANCE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350" y="3109614"/>
            <a:ext cx="7353300" cy="6825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38906" y="4858940"/>
            <a:ext cx="1510188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>
                <a:solidFill>
                  <a:srgbClr val="0A1128"/>
                </a:solidFill>
                <a:latin typeface="Inter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4862" y="5255121"/>
            <a:ext cx="14382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64748B"/>
                </a:solidFill>
                <a:latin typeface="Inter"/>
              </a:rPr>
              <a:t>Thermal capacity.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96214" y="4858940"/>
            <a:ext cx="2170271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 dirty="0" err="1">
                <a:solidFill>
                  <a:srgbClr val="009999"/>
                </a:solidFill>
                <a:latin typeface="Inter"/>
              </a:rPr>
              <a:t>hA</a:t>
            </a:r>
            <a:endParaRPr sz="2100" b="1" i="0" u="none" dirty="0">
              <a:solidFill>
                <a:srgbClr val="009999"/>
              </a:solidFill>
              <a:latin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295036" y="5255120"/>
            <a:ext cx="206692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 dirty="0">
                <a:solidFill>
                  <a:srgbClr val="64748B"/>
                </a:solidFill>
                <a:latin typeface="Inter"/>
              </a:rPr>
              <a:t>Heat transfer (unknown).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06" y="4858940"/>
            <a:ext cx="1130141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>
                <a:solidFill>
                  <a:srgbClr val="0A1128"/>
                </a:solidFill>
                <a:latin typeface="Inter"/>
              </a:rPr>
              <a:t>I²R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0514" y="5255121"/>
            <a:ext cx="107632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64748B"/>
                </a:solidFill>
                <a:latin typeface="Inter"/>
              </a:rPr>
              <a:t>Joule losses.</a:t>
            </a:r>
          </a:p>
        </p:txBody>
      </p:sp>
      <p:pic>
        <p:nvPicPr>
          <p:cNvPr id="17" name="Copied Picture 16">
            <a:extLst>
              <a:ext uri="{FF2B5EF4-FFF2-40B4-BE49-F238E27FC236}">
                <a16:creationId xmlns:a16="http://schemas.microsoft.com/office/drawing/2014/main" id="{A30258C3-21EC-7754-55A6-A4B1AEEA74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9289C01E-FA25-7890-5822-BDC38E0AE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3356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4500"/>
            <a:ext cx="12192000" cy="4648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312937"/>
            <a:ext cx="9144000" cy="2397918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5869" y="6362700"/>
            <a:ext cx="105653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35480" y="2617737"/>
            <a:ext cx="8321040" cy="182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sz="1200" b="1" i="0" u="none" dirty="0">
                <a:solidFill>
                  <a:srgbClr val="94A3B8"/>
                </a:solidFill>
                <a:latin typeface="Inter"/>
              </a:rPr>
              <a:t>WINDING &amp; HOUSING (2-NODE MODEL)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7675" y="2952898"/>
            <a:ext cx="4616499" cy="61227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3006" y="3793777"/>
            <a:ext cx="6465986" cy="61227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38312" y="5168056"/>
            <a:ext cx="300037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>
                <a:solidFill>
                  <a:srgbClr val="009999"/>
                </a:solidFill>
                <a:latin typeface="Inter"/>
              </a:rPr>
              <a:t>k_wh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5564237"/>
            <a:ext cx="28575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 dirty="0">
                <a:solidFill>
                  <a:srgbClr val="64748B"/>
                </a:solidFill>
                <a:latin typeface="Inter"/>
              </a:rPr>
              <a:t>Internal conduction</a:t>
            </a:r>
            <a:r>
              <a:rPr lang="en-US" sz="1350" b="0" i="0" u="none" dirty="0">
                <a:solidFill>
                  <a:srgbClr val="64748B"/>
                </a:solidFill>
                <a:latin typeface="Inter"/>
              </a:rPr>
              <a:t> (unknown)</a:t>
            </a:r>
            <a:r>
              <a:rPr sz="1350" b="0" i="0" u="none" dirty="0">
                <a:solidFill>
                  <a:srgbClr val="64748B"/>
                </a:solidFill>
                <a:latin typeface="Inter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5812" y="5168056"/>
            <a:ext cx="300037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>
                <a:solidFill>
                  <a:srgbClr val="009999"/>
                </a:solidFill>
                <a:latin typeface="Inter"/>
              </a:rPr>
              <a:t>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7250" y="5564237"/>
            <a:ext cx="28575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 dirty="0">
                <a:solidFill>
                  <a:srgbClr val="64748B"/>
                </a:solidFill>
                <a:latin typeface="Inter"/>
              </a:rPr>
              <a:t>External convection</a:t>
            </a:r>
            <a:r>
              <a:rPr lang="en-US" sz="1350" b="0" i="0" u="none" dirty="0">
                <a:solidFill>
                  <a:srgbClr val="64748B"/>
                </a:solidFill>
                <a:latin typeface="Inter"/>
              </a:rPr>
              <a:t> (unknown)</a:t>
            </a:r>
            <a:r>
              <a:rPr sz="1350" b="0" i="0" u="none" dirty="0">
                <a:solidFill>
                  <a:srgbClr val="64748B"/>
                </a:solidFill>
                <a:latin typeface="Inter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3312" y="5168056"/>
            <a:ext cx="300037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 dirty="0" err="1">
                <a:solidFill>
                  <a:srgbClr val="0A1128"/>
                </a:solidFill>
                <a:latin typeface="Inter"/>
              </a:rPr>
              <a:t>T_w</a:t>
            </a:r>
            <a:r>
              <a:rPr sz="2100" b="1" i="0" u="none" dirty="0">
                <a:solidFill>
                  <a:srgbClr val="0A1128"/>
                </a:solidFill>
                <a:latin typeface="Inter"/>
              </a:rPr>
              <a:t> &amp; </a:t>
            </a:r>
            <a:r>
              <a:rPr sz="2100" b="1" i="0" u="none" dirty="0" err="1">
                <a:solidFill>
                  <a:srgbClr val="0A1128"/>
                </a:solidFill>
                <a:latin typeface="Inter"/>
              </a:rPr>
              <a:t>T_h</a:t>
            </a:r>
            <a:endParaRPr sz="2100" b="1" i="0" u="none" dirty="0">
              <a:solidFill>
                <a:srgbClr val="0A1128"/>
              </a:solidFill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524750" y="5564237"/>
            <a:ext cx="28575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64748B"/>
                </a:solidFill>
                <a:latin typeface="Inter"/>
              </a:rPr>
              <a:t>Winding / Housing temps.</a:t>
            </a:r>
          </a:p>
        </p:txBody>
      </p:sp>
      <p:sp>
        <p:nvSpPr>
          <p:cNvPr id="18" name="Header Band">
            <a:extLst>
              <a:ext uri="{FF2B5EF4-FFF2-40B4-BE49-F238E27FC236}">
                <a16:creationId xmlns:a16="http://schemas.microsoft.com/office/drawing/2014/main" id="{3AC024D1-8222-A1F5-D03F-209C439CB983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4C035E-5E53-509A-2660-37D393B2695C}"/>
              </a:ext>
            </a:extLst>
          </p:cNvPr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85000"/>
                  </a:schemeClr>
                </a:solidFill>
                <a:latin typeface="Inter"/>
              </a:rPr>
              <a:t>PHYSICS FUNDAMENTALS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95FF71-85E3-A75D-3511-DB404D3A9F61}"/>
              </a:ext>
            </a:extLst>
          </p:cNvPr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600"/>
              </a:lnSpc>
            </a:pPr>
            <a:r>
              <a:rPr lang="en-GB" sz="3000" b="1" dirty="0">
                <a:solidFill>
                  <a:srgbClr val="FFFFFF"/>
                </a:solidFill>
                <a:latin typeface="Inter"/>
              </a:rPr>
              <a:t>Coupled Energy Balance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B0430487-C270-139B-BF81-55700954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617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42120"/>
            <a:ext cx="10668000" cy="1133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6842" y="11230553"/>
            <a:ext cx="10668000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sz="1200" b="0" i="0" u="none" dirty="0">
              <a:solidFill>
                <a:srgbClr val="64748B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66800" y="2670720"/>
            <a:ext cx="2714625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u="none" dirty="0">
                <a:solidFill>
                  <a:srgbClr val="009999"/>
                </a:solidFill>
                <a:latin typeface="Space Grotesk"/>
              </a:rPr>
              <a:t>1203 →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46842" y="7539616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980442" y="7539616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714242" y="7539616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38625" y="2756445"/>
            <a:ext cx="65055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000028"/>
                </a:solidFill>
                <a:latin typeface="Inter SemiBold"/>
              </a:rPr>
              <a:t>current (601) + measured temperature (601) + ambient (1) → 15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8625" y="3061245"/>
            <a:ext cx="6505575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475569"/>
                </a:solidFill>
                <a:latin typeface="Inter"/>
              </a:rPr>
              <a:t>80× fewer numbers.</a:t>
            </a:r>
            <a:r>
              <a:rPr lang="en-US" sz="1350" b="0" i="0" u="none" dirty="0">
                <a:solidFill>
                  <a:srgbClr val="475569"/>
                </a:solidFill>
                <a:latin typeface="Inter"/>
              </a:rPr>
              <a:t> </a:t>
            </a:r>
            <a:r>
              <a:rPr lang="en-GB" sz="1350" dirty="0">
                <a:solidFill>
                  <a:srgbClr val="475569"/>
                </a:solidFill>
                <a:latin typeface="Inter"/>
              </a:rPr>
              <a:t>T</a:t>
            </a:r>
            <a:r>
              <a:rPr lang="en-GB" sz="1350" b="0" i="0" u="none" dirty="0">
                <a:solidFill>
                  <a:srgbClr val="475569"/>
                </a:solidFill>
                <a:latin typeface="Inter"/>
              </a:rPr>
              <a:t>he discarded part is the noise.</a:t>
            </a:r>
            <a:endParaRPr sz="13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46842" y="8253991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980442" y="8253991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714242" y="8253991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46842" y="8968366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980442" y="8968366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714242" y="8968366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6842" y="9482716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980442" y="9482716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714242" y="9482716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46842" y="10197091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980442" y="10197091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714242" y="10197091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6842" y="10911466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980442" y="10911466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714242" y="10911466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Header Band">
            <a:extLst>
              <a:ext uri="{FF2B5EF4-FFF2-40B4-BE49-F238E27FC236}">
                <a16:creationId xmlns:a16="http://schemas.microsoft.com/office/drawing/2014/main" id="{2E25F1C9-2350-C7BB-7A02-FB51E5763681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282AA8-5F28-C9E6-F83F-A3367272A905}"/>
              </a:ext>
            </a:extLst>
          </p:cNvPr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ARCHITECTURE 1/2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ADDA46-C4EE-3257-C8AE-582FDA7159C9}"/>
              </a:ext>
            </a:extLst>
          </p:cNvPr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Physics-Motivated Features</a:t>
            </a:r>
          </a:p>
        </p:txBody>
      </p:sp>
      <p:pic>
        <p:nvPicPr>
          <p:cNvPr id="36" name="Picture 35" descr="image.png">
            <a:extLst>
              <a:ext uri="{FF2B5EF4-FFF2-40B4-BE49-F238E27FC236}">
                <a16:creationId xmlns:a16="http://schemas.microsoft.com/office/drawing/2014/main" id="{6065EBF3-66E5-6D58-A15E-2939C6A60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873500"/>
            <a:ext cx="2012321" cy="174076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824A08A-6B08-6049-D808-FA0DE9D1C1DD}"/>
              </a:ext>
            </a:extLst>
          </p:cNvPr>
          <p:cNvSpPr txBox="1"/>
          <p:nvPr/>
        </p:nvSpPr>
        <p:spPr>
          <a:xfrm>
            <a:off x="799708" y="4267725"/>
            <a:ext cx="1968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b="1" dirty="0">
                <a:solidFill>
                  <a:srgbClr val="000028"/>
                </a:solidFill>
                <a:latin typeface="Inter"/>
              </a:rPr>
              <a:t>Physics anchor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EBDA2F-4C40-E20F-06B3-8A9179AE731F}"/>
              </a:ext>
            </a:extLst>
          </p:cNvPr>
          <p:cNvSpPr txBox="1"/>
          <p:nvPr/>
        </p:nvSpPr>
        <p:spPr>
          <a:xfrm>
            <a:off x="846842" y="4622881"/>
            <a:ext cx="196850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hA_energy_balance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hA_steady_state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hA_from_tau</a:t>
            </a:r>
            <a:endParaRPr lang="en-GB" sz="1400" dirty="0">
              <a:solidFill>
                <a:srgbClr val="009999"/>
              </a:solidFill>
              <a:latin typeface="Space Grotesk Medium"/>
            </a:endParaRPr>
          </a:p>
        </p:txBody>
      </p:sp>
      <p:pic>
        <p:nvPicPr>
          <p:cNvPr id="60" name="Picture 59" descr="image.png">
            <a:extLst>
              <a:ext uri="{FF2B5EF4-FFF2-40B4-BE49-F238E27FC236}">
                <a16:creationId xmlns:a16="http://schemas.microsoft.com/office/drawing/2014/main" id="{D78E4582-E735-D165-1BC5-0FF45BB9F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0" y="3873500"/>
            <a:ext cx="2012321" cy="1740761"/>
          </a:xfrm>
          <a:prstGeom prst="rect">
            <a:avLst/>
          </a:prstGeom>
        </p:spPr>
      </p:pic>
      <p:pic>
        <p:nvPicPr>
          <p:cNvPr id="62" name="Picture 61" descr="image.png">
            <a:extLst>
              <a:ext uri="{FF2B5EF4-FFF2-40B4-BE49-F238E27FC236}">
                <a16:creationId xmlns:a16="http://schemas.microsoft.com/office/drawing/2014/main" id="{DFE6E497-9F61-3CB7-4139-ECD09293F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000" y="3873500"/>
            <a:ext cx="2012321" cy="1740761"/>
          </a:xfrm>
          <a:prstGeom prst="rect">
            <a:avLst/>
          </a:prstGeom>
        </p:spPr>
      </p:pic>
      <p:pic>
        <p:nvPicPr>
          <p:cNvPr id="64" name="Picture 63" descr="image.png">
            <a:extLst>
              <a:ext uri="{FF2B5EF4-FFF2-40B4-BE49-F238E27FC236}">
                <a16:creationId xmlns:a16="http://schemas.microsoft.com/office/drawing/2014/main" id="{F86790E3-1DEA-B815-82AD-3C78BAFCD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2700" y="3873500"/>
            <a:ext cx="2012321" cy="1740761"/>
          </a:xfrm>
          <a:prstGeom prst="rect">
            <a:avLst/>
          </a:prstGeom>
        </p:spPr>
      </p:pic>
      <p:pic>
        <p:nvPicPr>
          <p:cNvPr id="66" name="Picture 65" descr="image.png">
            <a:extLst>
              <a:ext uri="{FF2B5EF4-FFF2-40B4-BE49-F238E27FC236}">
                <a16:creationId xmlns:a16="http://schemas.microsoft.com/office/drawing/2014/main" id="{7543C213-0BFB-483F-787A-FF1C3ECD4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3400" y="3873500"/>
            <a:ext cx="2012321" cy="1740761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31D8B88F-F228-F694-FD71-3C82A106D74A}"/>
              </a:ext>
            </a:extLst>
          </p:cNvPr>
          <p:cNvSpPr txBox="1"/>
          <p:nvPr/>
        </p:nvSpPr>
        <p:spPr>
          <a:xfrm>
            <a:off x="2958708" y="4267725"/>
            <a:ext cx="1968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b="1" dirty="0">
                <a:solidFill>
                  <a:srgbClr val="000028"/>
                </a:solidFill>
                <a:latin typeface="Inter"/>
              </a:rPr>
              <a:t>Trust signals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A3907F-F568-B246-6F71-26FFC5114563}"/>
              </a:ext>
            </a:extLst>
          </p:cNvPr>
          <p:cNvSpPr txBox="1"/>
          <p:nvPr/>
        </p:nvSpPr>
        <p:spPr>
          <a:xfrm>
            <a:off x="5130408" y="4267725"/>
            <a:ext cx="1968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b="1" dirty="0">
                <a:solidFill>
                  <a:srgbClr val="000028"/>
                </a:solidFill>
                <a:latin typeface="Inter"/>
              </a:rPr>
              <a:t>Temperature rise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340D38-A44E-7353-8EF1-EEAA1E1C851F}"/>
              </a:ext>
            </a:extLst>
          </p:cNvPr>
          <p:cNvSpPr txBox="1"/>
          <p:nvPr/>
        </p:nvSpPr>
        <p:spPr>
          <a:xfrm>
            <a:off x="7302108" y="4267725"/>
            <a:ext cx="1968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b="1" dirty="0">
                <a:solidFill>
                  <a:srgbClr val="000028"/>
                </a:solidFill>
                <a:latin typeface="Inter"/>
              </a:rPr>
              <a:t>Load descriptors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4D7C8C-6D64-45FD-8C5F-3B8E2F0F93B1}"/>
              </a:ext>
            </a:extLst>
          </p:cNvPr>
          <p:cNvSpPr txBox="1"/>
          <p:nvPr/>
        </p:nvSpPr>
        <p:spPr>
          <a:xfrm>
            <a:off x="9461108" y="4267725"/>
            <a:ext cx="1968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b="1" dirty="0">
                <a:solidFill>
                  <a:srgbClr val="000028"/>
                </a:solidFill>
                <a:latin typeface="Inter"/>
              </a:rPr>
              <a:t>Context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4C364C4-6678-5929-9362-36B72FC3B7A9}"/>
              </a:ext>
            </a:extLst>
          </p:cNvPr>
          <p:cNvSpPr txBox="1"/>
          <p:nvPr/>
        </p:nvSpPr>
        <p:spPr>
          <a:xfrm>
            <a:off x="3005842" y="4622881"/>
            <a:ext cx="19685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tau_63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initial_slope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final_slope</a:t>
            </a:r>
            <a:endParaRPr lang="en-GB" sz="1400" dirty="0">
              <a:solidFill>
                <a:srgbClr val="009999"/>
              </a:solidFill>
              <a:latin typeface="Space Grotesk Medium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49397BD-429F-0C36-9663-41A34DED4EE5}"/>
              </a:ext>
            </a:extLst>
          </p:cNvPr>
          <p:cNvSpPr txBox="1"/>
          <p:nvPr/>
        </p:nvSpPr>
        <p:spPr>
          <a:xfrm>
            <a:off x="5177542" y="4622881"/>
            <a:ext cx="19685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T_rise_final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T_rise_max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T_rise_mean</a:t>
            </a:r>
            <a:endParaRPr lang="en-GB" sz="1400" dirty="0">
              <a:solidFill>
                <a:srgbClr val="009999"/>
              </a:solidFill>
              <a:latin typeface="Space Grotesk Medium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82DB5F-BDFD-ED32-8369-74BCC409B563}"/>
              </a:ext>
            </a:extLst>
          </p:cNvPr>
          <p:cNvSpPr txBox="1"/>
          <p:nvPr/>
        </p:nvSpPr>
        <p:spPr>
          <a:xfrm>
            <a:off x="7349242" y="4622881"/>
            <a:ext cx="1968500" cy="638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I_rms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I_mean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I_std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P_mean</a:t>
            </a:r>
            <a:endParaRPr lang="en-GB" sz="1400" dirty="0">
              <a:solidFill>
                <a:srgbClr val="009999"/>
              </a:solidFill>
              <a:latin typeface="Space Grotesk Medium"/>
            </a:endParaRPr>
          </a:p>
          <a:p>
            <a:pPr algn="ctr"/>
            <a:endParaRPr sz="13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CC02EF5-5A9F-E3BB-E6E2-B589079D2132}"/>
              </a:ext>
            </a:extLst>
          </p:cNvPr>
          <p:cNvSpPr txBox="1"/>
          <p:nvPr/>
        </p:nvSpPr>
        <p:spPr>
          <a:xfrm>
            <a:off x="9508242" y="4622881"/>
            <a:ext cx="1968500" cy="638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fr-FR" sz="1400" dirty="0" err="1">
                <a:solidFill>
                  <a:srgbClr val="009999"/>
                </a:solidFill>
                <a:latin typeface="Space Grotesk Medium"/>
              </a:rPr>
              <a:t>T_ambient</a:t>
            </a:r>
            <a:r>
              <a:rPr lang="fr-FR" sz="1400" dirty="0">
                <a:solidFill>
                  <a:srgbClr val="009999"/>
                </a:solidFill>
                <a:latin typeface="Space Grotesk Medium"/>
              </a:rPr>
              <a:t> ·</a:t>
            </a:r>
          </a:p>
          <a:p>
            <a:pPr algn="ctr"/>
            <a:r>
              <a:rPr lang="fr-FR" sz="1400" dirty="0">
                <a:solidFill>
                  <a:srgbClr val="009999"/>
                </a:solidFill>
                <a:latin typeface="Space Grotesk Medium"/>
              </a:rPr>
              <a:t> </a:t>
            </a:r>
            <a:r>
              <a:rPr lang="fr-FR" sz="1400" dirty="0" err="1">
                <a:solidFill>
                  <a:srgbClr val="009999"/>
                </a:solidFill>
                <a:latin typeface="Space Grotesk Medium"/>
              </a:rPr>
              <a:t>noise_std_est</a:t>
            </a:r>
            <a:endParaRPr lang="fr-FR" sz="1400" dirty="0">
              <a:solidFill>
                <a:srgbClr val="009999"/>
              </a:solidFill>
              <a:latin typeface="Space Grotesk Medium"/>
            </a:endParaRPr>
          </a:p>
          <a:p>
            <a:pPr algn="ctr"/>
            <a:endParaRPr sz="1350" b="0" i="0" u="none" dirty="0">
              <a:solidFill>
                <a:srgbClr val="475569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01508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 descr="image.png">
            <a:extLst>
              <a:ext uri="{FF2B5EF4-FFF2-40B4-BE49-F238E27FC236}">
                <a16:creationId xmlns:a16="http://schemas.microsoft.com/office/drawing/2014/main" id="{995FCB29-425E-FB16-1429-57C9B8B59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150" y="2537884"/>
            <a:ext cx="3403550" cy="1379041"/>
          </a:xfrm>
          <a:prstGeom prst="rect">
            <a:avLst/>
          </a:prstGeom>
        </p:spPr>
      </p:pic>
      <p:sp>
        <p:nvSpPr>
          <p:cNvPr id="37" name="Header Band">
            <a:extLst>
              <a:ext uri="{FF2B5EF4-FFF2-40B4-BE49-F238E27FC236}">
                <a16:creationId xmlns:a16="http://schemas.microsoft.com/office/drawing/2014/main" id="{2E24C395-D346-ABC9-EB08-E5AF08ECF5C9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548681"/>
            <a:ext cx="3403550" cy="137904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300" y="2548681"/>
            <a:ext cx="3403550" cy="13790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609600"/>
            <a:ext cx="10668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85000"/>
                  </a:schemeClr>
                </a:solidFill>
                <a:latin typeface="Inter"/>
              </a:rPr>
              <a:t>ARCHITECTURE 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914400"/>
            <a:ext cx="11201400" cy="460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sz="3000" b="1" dirty="0">
                <a:solidFill>
                  <a:schemeClr val="bg1"/>
                </a:solidFill>
                <a:latin typeface="Inter"/>
              </a:rPr>
              <a:t>Training Scale &amp; Generalization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1337082"/>
              </p:ext>
            </p:extLst>
          </p:nvPr>
        </p:nvGraphicFramePr>
        <p:xfrm>
          <a:off x="762000" y="4263032"/>
          <a:ext cx="10667998" cy="2019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6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4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MAPE 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Train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Val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Test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Gap test-train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1-node hA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1.773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1.820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000028"/>
                          </a:solidFill>
                          <a:latin typeface="Inter"/>
                        </a:rPr>
                        <a:t>1.815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 dirty="0">
                          <a:solidFill>
                            <a:srgbClr val="009999"/>
                          </a:solidFill>
                          <a:latin typeface="Inter Medium"/>
                        </a:rPr>
                        <a:t>+0.04 pp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2-node hA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1.754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2.002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000028"/>
                          </a:solidFill>
                          <a:latin typeface="Inter"/>
                        </a:rPr>
                        <a:t>1.817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9999"/>
                          </a:solidFill>
                          <a:latin typeface="Inter Medium"/>
                        </a:rPr>
                        <a:t>+0.06 pp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2-node k_wh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3.570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 dirty="0">
                          <a:solidFill>
                            <a:srgbClr val="000028"/>
                          </a:solidFill>
                          <a:latin typeface="Inter"/>
                        </a:rPr>
                        <a:t>3.930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000028"/>
                          </a:solidFill>
                          <a:latin typeface="Inter"/>
                        </a:rPr>
                        <a:t>3.895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 dirty="0">
                          <a:solidFill>
                            <a:srgbClr val="009999"/>
                          </a:solidFill>
                          <a:latin typeface="Inter Medium"/>
                        </a:rPr>
                        <a:t>+0.33 pp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62000" y="4724995"/>
            <a:ext cx="29869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8980" y="47249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160" y="47249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589341" y="47249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509521" y="4724995"/>
            <a:ext cx="192047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600" y="2777281"/>
            <a:ext cx="3093667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 i="0" u="none">
                <a:solidFill>
                  <a:srgbClr val="000028"/>
                </a:solidFill>
                <a:latin typeface="Space Grotesk"/>
              </a:rPr>
              <a:t>7 600 motors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3272581"/>
            <a:ext cx="2946350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per testbed — 6 000 train / 800 val / 800 test. 601 samples each.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2750" y="2773655"/>
            <a:ext cx="3093667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 i="0" u="none" dirty="0">
                <a:solidFill>
                  <a:srgbClr val="000028"/>
                </a:solidFill>
                <a:latin typeface="Space Grotesk"/>
              </a:rPr>
              <a:t>~1 000 params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2750" y="3261787"/>
            <a:ext cx="2946350" cy="639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 dirty="0">
                <a:solidFill>
                  <a:srgbClr val="475569"/>
                </a:solidFill>
                <a:latin typeface="Inter"/>
              </a:rPr>
              <a:t>15 → Dense(32) → Dense(16) → 1. Converged in 95 epochs via early stopping.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4900" y="2777281"/>
            <a:ext cx="3093667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 i="0" u="none">
                <a:solidFill>
                  <a:srgbClr val="000028"/>
                </a:solidFill>
                <a:latin typeface="Space Grotesk"/>
              </a:rPr>
              <a:t>1.6 seconds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4900" y="3272581"/>
            <a:ext cx="2946350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full training time on CPU. The expensive work is paid once, offline.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239345"/>
            <a:ext cx="29869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748980" y="52393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69160" y="52393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589341" y="52393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509521" y="5239345"/>
            <a:ext cx="192047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62000" y="5753695"/>
            <a:ext cx="29869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748980" y="57536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69160" y="57536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589341" y="57536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509521" y="5753695"/>
            <a:ext cx="192047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2000" y="6268045"/>
            <a:ext cx="29869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748980" y="62680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669160" y="62680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589341" y="62680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509521" y="6268045"/>
            <a:ext cx="192047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762968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Header Band"/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400" y="2640359"/>
            <a:ext cx="5715000" cy="2796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ARCHITECTURE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Residual MLP Correction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8170" y="2631423"/>
            <a:ext cx="504063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 dirty="0">
                <a:solidFill>
                  <a:srgbClr val="0F172A"/>
                </a:solidFill>
                <a:latin typeface="Inter"/>
              </a:rPr>
              <a:t>Never relearn basic physics.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170" y="3097559"/>
            <a:ext cx="4800600" cy="7617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1650" b="0" i="0" u="none" dirty="0">
                <a:solidFill>
                  <a:srgbClr val="475569"/>
                </a:solidFill>
                <a:latin typeface="Inter"/>
              </a:rPr>
              <a:t>The network predicts a multiplicative residual correction on top of the closed-form physics estimator. Selected on validation over additive and unanchored variants</a:t>
            </a:r>
            <a:endParaRPr sz="16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24600" y="3097559"/>
            <a:ext cx="5040630" cy="205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TARGET PARAMETERIZATION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3531840"/>
            <a:ext cx="480060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 dirty="0" err="1">
                <a:solidFill>
                  <a:srgbClr val="009999"/>
                </a:solidFill>
                <a:latin typeface="monospace"/>
              </a:rPr>
              <a:t>hA_pred</a:t>
            </a:r>
            <a:r>
              <a:rPr sz="2100" b="1" i="0" u="none" dirty="0">
                <a:solidFill>
                  <a:srgbClr val="F8FAFC"/>
                </a:solidFill>
                <a:latin typeface="monospace"/>
              </a:rPr>
              <a:t> = </a:t>
            </a:r>
            <a:r>
              <a:rPr sz="2100" b="1" i="0" u="none" dirty="0" err="1">
                <a:solidFill>
                  <a:srgbClr val="F8FAFC"/>
                </a:solidFill>
                <a:latin typeface="monospace"/>
              </a:rPr>
              <a:t>hA_base</a:t>
            </a:r>
            <a:r>
              <a:rPr lang="en-US" sz="2100" b="1" i="0" u="none" dirty="0">
                <a:solidFill>
                  <a:srgbClr val="F8FAFC"/>
                </a:solidFill>
                <a:latin typeface="monospace"/>
              </a:rPr>
              <a:t> </a:t>
            </a:r>
            <a:r>
              <a:rPr lang="en-GB" sz="2100" b="1" i="0" u="none" dirty="0">
                <a:solidFill>
                  <a:srgbClr val="F8FAFC"/>
                </a:solidFill>
                <a:latin typeface="monospace"/>
              </a:rPr>
              <a:t>× exp(net(features))</a:t>
            </a:r>
            <a:endParaRPr sz="2100" b="1" i="0" u="none" dirty="0">
              <a:solidFill>
                <a:srgbClr val="F8FAFC"/>
              </a:solidFill>
              <a:latin typeface="monospace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24600" y="4465290"/>
            <a:ext cx="48006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Network capacity focuses entirely on modeling noise deviations and unmodeled transient dynamics.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075" y="4202310"/>
            <a:ext cx="4429125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Topology:</a:t>
            </a:r>
            <a:r>
              <a:rPr sz="1500" b="0" i="0" u="none">
                <a:solidFill>
                  <a:srgbClr val="0F172A"/>
                </a:solidFill>
                <a:latin typeface="Inter"/>
              </a:rPr>
              <a:t> Dense(32) → Dense(16)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4583310"/>
            <a:ext cx="44577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Loss:</a:t>
            </a:r>
            <a:r>
              <a:rPr sz="1500" b="0" i="0" u="none">
                <a:solidFill>
                  <a:srgbClr val="0F172A"/>
                </a:solidFill>
                <a:latin typeface="Inter"/>
              </a:rPr>
              <a:t> Normalized MSE via Adam.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4964310"/>
            <a:ext cx="44577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Failsafe:</a:t>
            </a:r>
            <a:r>
              <a:rPr sz="1500" b="0" i="0" u="none">
                <a:solidFill>
                  <a:srgbClr val="0F172A"/>
                </a:solidFill>
                <a:latin typeface="Inter"/>
              </a:rPr>
              <a:t> Defaults to pure physics.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216598"/>
            <a:ext cx="219075" cy="2000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597598"/>
            <a:ext cx="190500" cy="2000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978598"/>
            <a:ext cx="190500" cy="200025"/>
          </a:xfrm>
          <a:prstGeom prst="rect">
            <a:avLst/>
          </a:prstGeom>
        </p:spPr>
      </p:pic>
      <p:pic>
        <p:nvPicPr>
          <p:cNvPr id="16" name="Copied Picture 16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AE87A9F-623B-177B-CC01-915652F64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9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FDCA11-027D-F4AD-6029-68E67EDDC08E}"/>
              </a:ext>
            </a:extLst>
          </p:cNvPr>
          <p:cNvSpPr txBox="1"/>
          <p:nvPr/>
        </p:nvSpPr>
        <p:spPr>
          <a:xfrm>
            <a:off x="506155" y="6018867"/>
            <a:ext cx="80110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>
                <a:solidFill>
                  <a:srgbClr val="475569"/>
                </a:solidFill>
                <a:latin typeface="Inter"/>
              </a:rPr>
              <a:t>Validation: unanchored 2.11% · additive 1.86% · multiplicative 1.82%</a:t>
            </a:r>
          </a:p>
        </p:txBody>
      </p:sp>
    </p:spTree>
    <p:extLst>
      <p:ext uri="{BB962C8B-B14F-4D97-AF65-F5344CB8AC3E}">
        <p14:creationId xmlns:p14="http://schemas.microsoft.com/office/powerpoint/2010/main" val="573196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 descr="image.png">
            <a:extLst>
              <a:ext uri="{FF2B5EF4-FFF2-40B4-BE49-F238E27FC236}">
                <a16:creationId xmlns:a16="http://schemas.microsoft.com/office/drawing/2014/main" id="{A3D7F77F-550A-65DF-84FD-04C59841F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77636"/>
            <a:ext cx="3429000" cy="2521775"/>
          </a:xfrm>
          <a:prstGeom prst="rect">
            <a:avLst/>
          </a:prstGeom>
        </p:spPr>
      </p:pic>
      <p:sp>
        <p:nvSpPr>
          <p:cNvPr id="500" name="Header Band"/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31286" y="2765077"/>
            <a:ext cx="3471917" cy="254689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3841" y="2765077"/>
            <a:ext cx="3471917" cy="25468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BASELINE ALTERNATIVES 1/2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Classical Calibration Solvers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69877"/>
            <a:ext cx="3040380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0A1128"/>
                </a:solidFill>
                <a:latin typeface="Inter"/>
              </a:rPr>
              <a:t>Genetic Algorithm (GA)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26148"/>
            <a:ext cx="28956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09999"/>
                </a:solidFill>
                <a:latin typeface="Inter"/>
              </a:rPr>
              <a:t>WHEN TO USE: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26173"/>
            <a:ext cx="28956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A1128"/>
                </a:solidFill>
                <a:latin typeface="Inter"/>
              </a:rPr>
              <a:t>Non-convex search spaces. Unconstrained offline compute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8200" y="3069877"/>
            <a:ext cx="3040380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0A1128"/>
                </a:solidFill>
                <a:latin typeface="Inter"/>
              </a:rPr>
              <a:t>Particle Swarm (PSO)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8200" y="4426148"/>
            <a:ext cx="28956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09999"/>
                </a:solidFill>
                <a:latin typeface="Inter"/>
              </a:rPr>
              <a:t>WHEN TO USE: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8200" y="4626173"/>
            <a:ext cx="28956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A1128"/>
                </a:solidFill>
                <a:latin typeface="Inter"/>
              </a:rPr>
              <a:t>Continuous search landscapes. Simpler tuning requirements.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3069877"/>
            <a:ext cx="3040380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0A1128"/>
                </a:solidFill>
                <a:latin typeface="Inter"/>
              </a:rPr>
              <a:t>Levenberg-Marquardt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4426148"/>
            <a:ext cx="28956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09999"/>
                </a:solidFill>
                <a:latin typeface="Inter"/>
              </a:rPr>
              <a:t>WHEN TO USE: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4626173"/>
            <a:ext cx="28956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A1128"/>
                </a:solidFill>
                <a:latin typeface="Inter"/>
              </a:rPr>
              <a:t>Smooth mathematical models. Offline curve-fitting defaults.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75" y="34545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736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Population-based metaheuristic.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7275" y="37212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403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Evolves candidate solutions.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275" y="39879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070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Explores global parameter space.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075" y="34545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34736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Swarm intelligence tracking.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075" y="37212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37403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Follows local/global bests.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91075" y="39879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6800" y="40070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Continuous search mechanism.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875" y="34545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0600" y="34736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Non-linear least squares.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4875" y="37212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0600" y="37403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Gradient-based curve fitting.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4875" y="39879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0600" y="40070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Fits exact mathematical equations.</a:t>
            </a:r>
          </a:p>
        </p:txBody>
      </p:sp>
      <p:pic>
        <p:nvPicPr>
          <p:cNvPr id="34" name="Copied Picture 34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9B91E636-185D-1142-64B1-3C017080B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987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Header Band"/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2691705"/>
            <a:ext cx="4533900" cy="269364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24600" y="2694809"/>
            <a:ext cx="4533900" cy="2687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BASELINE ALTERNATIVES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Sequential &amp; Bayesian Solvers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5450" y="2996505"/>
            <a:ext cx="4060507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A1128"/>
                </a:solidFill>
                <a:latin typeface="Inter"/>
              </a:rPr>
              <a:t>Extended Kalman 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5450" y="4480470"/>
            <a:ext cx="38671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09999"/>
                </a:solidFill>
                <a:latin typeface="Inter"/>
              </a:rPr>
              <a:t>WHEN TO USE: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5450" y="4680495"/>
            <a:ext cx="38671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A1128"/>
                </a:solidFill>
                <a:latin typeface="Inter"/>
              </a:rPr>
              <a:t>Live streaming data. Immediate on-the-fly updates.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6550" y="2996505"/>
            <a:ext cx="4060507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A1128"/>
                </a:solidFill>
                <a:latin typeface="Inter"/>
              </a:rPr>
              <a:t>Bayesian 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6550" y="4480470"/>
            <a:ext cx="38671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09999"/>
                </a:solidFill>
                <a:latin typeface="Inter"/>
              </a:rPr>
              <a:t>WHEN TO USE: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6550" y="4680495"/>
            <a:ext cx="38671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A1128"/>
                </a:solidFill>
                <a:latin typeface="Inter"/>
              </a:rPr>
              <a:t>Highly expensive simulations. Critical evaluation limits.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08908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4050" y="3423195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Sequential state update.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723233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4050" y="3737520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Processes sample-by-sample.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37558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4050" y="4051845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Real-time parameter tracking.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9900" y="3408908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5150" y="3423195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Gaussian Process surrogate.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9900" y="3723233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5150" y="3737520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Sample-efficient search optimization.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9900" y="4037558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5150" y="4051845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Balances exploration against exploitation.</a:t>
            </a:r>
          </a:p>
        </p:txBody>
      </p:sp>
      <p:pic>
        <p:nvPicPr>
          <p:cNvPr id="24" name="Copied Picture 24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4A9F052-FF9E-FC8B-71AB-1AE7D1B42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1922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4748B"/>
                </a:solidFill>
                <a:latin typeface="Inter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0F172A"/>
                </a:solidFill>
                <a:latin typeface="Inter"/>
              </a:rPr>
              <a:t>1-Node Testbed Benchmark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33500"/>
            <a:ext cx="10972800" cy="3901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5674965"/>
            <a:ext cx="76200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800" b="0" i="0" u="none" dirty="0">
                <a:solidFill>
                  <a:srgbClr val="0A1128"/>
                </a:solidFill>
                <a:latin typeface="Inter Medium"/>
              </a:rPr>
              <a:t>Second-best accuracy behind EKF (1.44% vs 1.28% median). Zero convergence failures. 0.77 </a:t>
            </a:r>
            <a:r>
              <a:rPr lang="en-GB" sz="1800" b="0" i="0" u="none" dirty="0" err="1">
                <a:solidFill>
                  <a:srgbClr val="0A1128"/>
                </a:solidFill>
                <a:latin typeface="Inter Medium"/>
              </a:rPr>
              <a:t>ms</a:t>
            </a:r>
            <a:r>
              <a:rPr lang="en-GB" sz="1800" b="0" i="0" u="none" dirty="0">
                <a:solidFill>
                  <a:srgbClr val="0A1128"/>
                </a:solidFill>
                <a:latin typeface="Inter Medium"/>
              </a:rPr>
              <a:t> — 14× faster than the next-best solver.</a:t>
            </a:r>
            <a:endParaRPr sz="1800" b="0" i="0" u="none" dirty="0">
              <a:solidFill>
                <a:srgbClr val="0A1128"/>
              </a:solidFill>
              <a:latin typeface="Inter Medium"/>
            </a:endParaRPr>
          </a:p>
        </p:txBody>
      </p:sp>
      <p:pic>
        <p:nvPicPr>
          <p:cNvPr id="6" name="Copied Picture 6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723AE-E0B7-0EC7-7EEF-BF02ACD9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979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4748B"/>
                </a:solidFill>
                <a:latin typeface="Inter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0F172A"/>
                </a:solidFill>
                <a:latin typeface="Inter"/>
              </a:rPr>
              <a:t>2-Node Testbed Benchmark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33500"/>
            <a:ext cx="10972800" cy="3901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09750" y="5674965"/>
            <a:ext cx="85725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dirty="0"/>
              <a:t>Best accuracy on </a:t>
            </a:r>
            <a:r>
              <a:rPr lang="en-GB" dirty="0" err="1"/>
              <a:t>hA</a:t>
            </a:r>
            <a:r>
              <a:rPr lang="en-GB" dirty="0"/>
              <a:t> (1.29% median MAPE). EKF leads on the harder </a:t>
            </a:r>
            <a:r>
              <a:rPr lang="en-GB" dirty="0" err="1"/>
              <a:t>k_wh</a:t>
            </a:r>
            <a:r>
              <a:rPr lang="en-GB" dirty="0"/>
              <a:t> (1.20% vs 3.13%). Only method with 100% convergence on both parameters.</a:t>
            </a:r>
            <a:endParaRPr sz="1800" b="0" i="0" u="none" dirty="0">
              <a:solidFill>
                <a:srgbClr val="0A1128"/>
              </a:solidFill>
              <a:latin typeface="Inter Medium"/>
            </a:endParaRPr>
          </a:p>
        </p:txBody>
      </p:sp>
      <p:pic>
        <p:nvPicPr>
          <p:cNvPr id="6" name="Copied Picture 6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282E5E-3BDB-D0E4-32E7-613BA8AC5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616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4748B"/>
                </a:solidFill>
                <a:latin typeface="Inter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0F172A"/>
                </a:solidFill>
                <a:latin typeface="Inter"/>
              </a:rPr>
              <a:t>Speed vs. Accuracy Trade-off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33500"/>
            <a:ext cx="10972800" cy="4626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92547" y="6081388"/>
            <a:ext cx="780690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dirty="0"/>
              <a:t>Bottom-left quadrant: only MLP and EKF combine low error with low latency. MLP at 0.77 </a:t>
            </a:r>
            <a:r>
              <a:rPr lang="en-GB" dirty="0" err="1"/>
              <a:t>ms</a:t>
            </a:r>
            <a:r>
              <a:rPr lang="en-GB" dirty="0"/>
              <a:t>, three orders of magnitude below the population heuristics.</a:t>
            </a:r>
            <a:endParaRPr lang="en-GB" sz="165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6" name="Copied Picture 6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4557B0-D235-C806-2340-2B99E7620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1229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4748B"/>
                </a:solidFill>
                <a:latin typeface="Inter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0F172A"/>
                </a:solidFill>
                <a:latin typeface="Inter"/>
              </a:rPr>
              <a:t>Execution Speed Distribution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33500"/>
            <a:ext cx="10972800" cy="46266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20044" y="6041613"/>
            <a:ext cx="775191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dirty="0"/>
              <a:t>Deterministic output: identical input yields an identical estimate on every run — no random restarts, no initialization sensitivity. Latency stays tightly bounded.</a:t>
            </a:r>
            <a:endParaRPr dirty="0">
              <a:solidFill>
                <a:srgbClr val="0A1128"/>
              </a:solidFill>
              <a:latin typeface="Inter Medium"/>
            </a:endParaRPr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34DBEC-11E3-BC8C-7A36-A9208FFC4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306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4748B"/>
                </a:solidFill>
                <a:latin typeface="Inter"/>
              </a:rPr>
              <a:t>DIMENSIONALITY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rgbClr val="0F172A"/>
                </a:solidFill>
                <a:latin typeface="Inter"/>
              </a:rPr>
              <a:t>Scalability Penalty (1 → 2 Parameters)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33500"/>
            <a:ext cx="10972800" cy="4626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6188719"/>
            <a:ext cx="7620000" cy="12388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dirty="0"/>
              <a:t>GA, PSO and LM pay a 17–19× latency penalty for one extra parameter. MLP (1.15×) and EKF (1.27×) are essentially unaffected; </a:t>
            </a:r>
            <a:r>
              <a:rPr lang="en-GB" sz="1600" dirty="0" err="1"/>
              <a:t>BayesOpt</a:t>
            </a:r>
            <a:r>
              <a:rPr lang="en-GB" sz="1600" dirty="0"/>
              <a:t> sits between at 2.3×.</a:t>
            </a:r>
          </a:p>
          <a:p>
            <a:pPr algn="ctr"/>
            <a:br>
              <a:rPr lang="en-GB" sz="1600" dirty="0"/>
            </a:br>
            <a:endParaRPr lang="en-GB" sz="1600" dirty="0"/>
          </a:p>
          <a:p>
            <a:pPr algn="ctr"/>
            <a:endParaRPr sz="165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6" name="Copied Picture 6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2754B-E463-6114-5C5C-F0AEC34C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528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62000" y="2327820"/>
          <a:ext cx="10668000" cy="2533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6730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Observation Window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Closed-Form Physics Error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Residual MLP Error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730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10% (300 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EF4444"/>
                          </a:solidFill>
                          <a:latin typeface="Inter"/>
                        </a:rPr>
                        <a:t>58.3%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009999"/>
                          </a:solidFill>
                          <a:latin typeface="Inter"/>
                        </a:rPr>
                        <a:t>23.5%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730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20% (600 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F59E0B"/>
                          </a:solidFill>
                          <a:latin typeface="Inter"/>
                        </a:rPr>
                        <a:t>21.1%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009999"/>
                          </a:solidFill>
                          <a:latin typeface="Inter"/>
                        </a:rPr>
                        <a:t>13.5%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730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50% (1500 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5.0%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4.7%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730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100% (3005 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1.79%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 dirty="0">
                          <a:solidFill>
                            <a:srgbClr val="000028"/>
                          </a:solidFill>
                          <a:latin typeface="Inter"/>
                        </a:rPr>
                        <a:t>1.81%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90600" y="5242470"/>
            <a:ext cx="104394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00028"/>
                </a:solidFill>
                <a:latin typeface="Inter"/>
              </a:rPr>
              <a:t>On a fully settled window the closed-form estimator is already near-optimal and the network only matches it. </a:t>
            </a:r>
            <a:r>
              <a:rPr sz="1500" b="1" i="0" u="none">
                <a:solidFill>
                  <a:srgbClr val="000028"/>
                </a:solidFill>
                <a:latin typeface="Inter"/>
              </a:rPr>
              <a:t>The gap opens widely as the window shortens</a:t>
            </a:r>
            <a:r>
              <a:rPr sz="1500" b="0" i="0" u="none">
                <a:solidFill>
                  <a:srgbClr val="000028"/>
                </a:solidFill>
                <a:latin typeface="Inter"/>
              </a:rPr>
              <a:t> — precisely the regime a live calibration operates 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5242470"/>
            <a:ext cx="38100" cy="5715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2000" y="2789783"/>
            <a:ext cx="4267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0" y="27897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27897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62000" y="3304133"/>
            <a:ext cx="4267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0" y="330413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0" y="330413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62000" y="3818483"/>
            <a:ext cx="4267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0" y="38184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38184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62000" y="4332833"/>
            <a:ext cx="4267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0" y="433283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0" y="433283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62000" y="4847183"/>
            <a:ext cx="4267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0" y="48471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0" y="48471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F6FD88E-4CFC-A65A-7C40-6B8678EFB9C0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4000E4-BFCD-C4C2-4ECB-38D5D3AA0FD7}"/>
              </a:ext>
            </a:extLst>
          </p:cNvPr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u="none" dirty="0">
                <a:solidFill>
                  <a:schemeClr val="bg1">
                    <a:lumMod val="85000"/>
                  </a:schemeClr>
                </a:solidFill>
                <a:latin typeface="Inter"/>
              </a:rPr>
              <a:t>EVALUATION</a:t>
            </a:r>
            <a:endParaRPr sz="1200" b="1" i="0" u="none" dirty="0">
              <a:solidFill>
                <a:schemeClr val="bg1">
                  <a:lumMod val="85000"/>
                </a:schemeClr>
              </a:solidFill>
              <a:latin typeface="Inter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5315D4-F1C8-8C31-C4C7-118759AA1632}"/>
              </a:ext>
            </a:extLst>
          </p:cNvPr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3000" b="1" i="0" u="none" dirty="0">
                <a:solidFill>
                  <a:schemeClr val="bg1"/>
                </a:solidFill>
                <a:latin typeface="Inter"/>
              </a:rPr>
              <a:t>Where the Learning Actually Pays Off</a:t>
            </a:r>
            <a:endParaRPr sz="3000" b="1" i="0" u="none" dirty="0">
              <a:solidFill>
                <a:schemeClr val="bg1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09733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012C26E-D814-1308-8AB1-446AAB89F6B7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2955194"/>
            <a:ext cx="3454449" cy="243693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49" y="2953642"/>
            <a:ext cx="3454449" cy="243693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2953642"/>
            <a:ext cx="3454449" cy="24384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85000"/>
                  </a:schemeClr>
                </a:solidFill>
                <a:latin typeface="Inter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Conclusions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258442"/>
            <a:ext cx="266700" cy="30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3791842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1" dirty="0">
                <a:solidFill>
                  <a:srgbClr val="0F172A"/>
                </a:solidFill>
                <a:latin typeface="Inter"/>
              </a:rPr>
              <a:t>The ML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8533"/>
            <a:ext cx="2844849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1400" dirty="0"/>
              <a:t>Zero simulator rollouts per calibration, against 520–1 100 for the population heuristics — the search cost is paid once, offline.</a:t>
            </a:r>
            <a:endParaRPr sz="1350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73649" y="3776587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 dirty="0">
                <a:solidFill>
                  <a:srgbClr val="0F172A"/>
                </a:solidFill>
                <a:latin typeface="Inter"/>
              </a:rPr>
              <a:t>Superior Robustness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649" y="4218532"/>
            <a:ext cx="2844849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475569"/>
                </a:solidFill>
                <a:latin typeface="Inter"/>
              </a:rPr>
              <a:t>100% convergence success rate. Immune to randomized initialization faults.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2899" y="3258442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32899" y="3791842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Edge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2899" y="4218533"/>
            <a:ext cx="2844849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Predictable sub-millisecond latency. Viable for constrained edge deployment.</a:t>
            </a:r>
          </a:p>
        </p:txBody>
      </p:sp>
      <p:pic>
        <p:nvPicPr>
          <p:cNvPr id="15" name="Copied Picture 15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pic>
        <p:nvPicPr>
          <p:cNvPr id="19" name="Picture 18" descr="image.png">
            <a:extLst>
              <a:ext uri="{FF2B5EF4-FFF2-40B4-BE49-F238E27FC236}">
                <a16:creationId xmlns:a16="http://schemas.microsoft.com/office/drawing/2014/main" id="{68B1C8FB-8636-A60E-D06A-08649973C1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3649" y="3276600"/>
            <a:ext cx="266700" cy="3048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666E6FDD-3229-6482-6E8C-1BE78258A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8592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45781" y="2067817"/>
            <a:ext cx="3500437" cy="73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sz="4800" b="1" i="0" u="none">
                <a:solidFill>
                  <a:srgbClr val="F8FAFC"/>
                </a:solidFill>
                <a:latin typeface="Inter"/>
              </a:rPr>
              <a:t>Thank you.</a:t>
            </a:r>
          </a:p>
        </p:txBody>
      </p:sp>
      <p:sp>
        <p:nvSpPr>
          <p:cNvPr id="3" name="Rectangle 2"/>
          <p:cNvSpPr/>
          <p:nvPr/>
        </p:nvSpPr>
        <p:spPr>
          <a:xfrm>
            <a:off x="5791200" y="3027908"/>
            <a:ext cx="6096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62475" y="3447008"/>
            <a:ext cx="30670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u="none" dirty="0">
                <a:solidFill>
                  <a:srgbClr val="94A3B8"/>
                </a:solidFill>
                <a:latin typeface="Inter"/>
              </a:rPr>
              <a:t>alexandra.titel17@gmail.com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95787" y="3799433"/>
            <a:ext cx="34004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64748B"/>
                </a:solidFill>
                <a:latin typeface="Inter"/>
              </a:rPr>
              <a:t>github.com/titelaex/ParamsCalibrator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2875" y="4523333"/>
            <a:ext cx="4705350" cy="7232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Mathematical Optimization &amp; Data Processing for Physical Constant Calibration via ML</a:t>
            </a:r>
          </a:p>
          <a:p>
            <a:pPr algn="ctr"/>
            <a:endParaRPr sz="1500" b="0" i="0" u="none" dirty="0">
              <a:solidFill>
                <a:srgbClr val="F8FAFC"/>
              </a:solidFill>
              <a:latin typeface="Inter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1158EE0-CCDD-0064-C364-8BD07D0E6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95" y="6216770"/>
            <a:ext cx="1231817" cy="509495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32CEC5-FA5E-8002-9746-096F2AE9F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192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 [1787591371040]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01329E5-E4B6-468D-B387-000EC409442A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973785f9-d6d4-430c-a0b9-f718eb4aa39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454</TotalTime>
  <Words>1089</Words>
  <Application>Microsoft Office PowerPoint</Application>
  <PresentationFormat>Widescreen</PresentationFormat>
  <Paragraphs>212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Aptos</vt:lpstr>
      <vt:lpstr>Arial</vt:lpstr>
      <vt:lpstr>Calibri</vt:lpstr>
      <vt:lpstr>Inter</vt:lpstr>
      <vt:lpstr>Inter Medium</vt:lpstr>
      <vt:lpstr>Inter SemiBold</vt:lpstr>
      <vt:lpstr>monospace</vt:lpstr>
      <vt:lpstr>Space Grotesk</vt:lpstr>
      <vt:lpstr>Space Grotesk Medium</vt:lpstr>
      <vt:lpstr>Office Theme [1787591371040]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TITEL ALEXANDRA-MARIA</cp:lastModifiedBy>
  <cp:revision>14</cp:revision>
  <dcterms:created xsi:type="dcterms:W3CDTF">2013-01-27T09:14:16Z</dcterms:created>
  <dcterms:modified xsi:type="dcterms:W3CDTF">2026-08-25T10:13:07Z</dcterms:modified>
  <cp:category/>
</cp:coreProperties>
</file>