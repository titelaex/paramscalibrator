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5"/>
  </p:notesMasterIdLst>
  <p:sldIdLst>
    <p:sldId id="292" r:id="rId2"/>
    <p:sldId id="257" r:id="rId3"/>
    <p:sldId id="284" r:id="rId4"/>
    <p:sldId id="285" r:id="rId5"/>
    <p:sldId id="260" r:id="rId6"/>
    <p:sldId id="261" r:id="rId7"/>
    <p:sldId id="295" r:id="rId8"/>
    <p:sldId id="263" r:id="rId9"/>
    <p:sldId id="287" r:id="rId10"/>
    <p:sldId id="288" r:id="rId11"/>
    <p:sldId id="290" r:id="rId12"/>
    <p:sldId id="277" r:id="rId13"/>
    <p:sldId id="278" r:id="rId14"/>
    <p:sldId id="279" r:id="rId15"/>
    <p:sldId id="281" r:id="rId16"/>
    <p:sldId id="272" r:id="rId17"/>
    <p:sldId id="282" r:id="rId18"/>
    <p:sldId id="297" r:id="rId19"/>
    <p:sldId id="283" r:id="rId20"/>
    <p:sldId id="258" r:id="rId21"/>
    <p:sldId id="256" r:id="rId22"/>
    <p:sldId id="301" r:id="rId23"/>
    <p:sldId id="28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  <a:srgbClr val="0A1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81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885A7D-505C-4218-BCB8-560D5C17BB9B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B7597-39F9-491C-90E1-F385D25B6D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164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8B7597-39F9-491C-90E1-F385D25B6DA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020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D5287-36FD-4D30-93D0-5E26E609679A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3B209-8E21-4BF8-BF16-EE1798512C30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5CF5B-B0B2-49F6-9CC0-BB384280F61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3206D-DA0F-4100-AE2C-B1E9FCEF6D4F}" type="datetime1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A0442-76CF-480A-8636-183A2A3578C2}" type="datetime1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0FF23-48AC-4F4D-AFE5-7B7556834023}" type="datetime1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ABAC-2ED4-4C66-9BF9-ECA281D38451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CDAC-E287-45C0-8510-E2CA0352394E}" type="datetime1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4E2EC-6C6A-460F-8082-C404C2D77A6E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504EB-207A-4480-A401-E95D6C51D63B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F10B9-8DEC-4C80-9E67-014F9EBB58A6}" type="datetime1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1.png"/><Relationship Id="rId7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Extended_Kalman_filter" TargetMode="External"/><Relationship Id="rId3" Type="http://schemas.openxmlformats.org/officeDocument/2006/relationships/hyperlink" Target="https://en.wikipedia.org/wiki/Lumped-element_model" TargetMode="External"/><Relationship Id="rId7" Type="http://schemas.openxmlformats.org/officeDocument/2006/relationships/hyperlink" Target="https://en.wikipedia.org/wiki/Particle_swarm_optimization" TargetMode="External"/><Relationship Id="rId2" Type="http://schemas.openxmlformats.org/officeDocument/2006/relationships/hyperlink" Target="https://scikit-learn.org/stable/modules/generated/sklearn.neural_network.MLPRegressor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n.wikipedia.org/wiki/Genetic_algorithm" TargetMode="External"/><Relationship Id="rId5" Type="http://schemas.openxmlformats.org/officeDocument/2006/relationships/hyperlink" Target="https://en.wikipedia.org/wiki/Levenberg%E2%80%93Marquardt_algorithm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en.wikipedia.org/wiki/Joule_heating" TargetMode="External"/><Relationship Id="rId9" Type="http://schemas.openxmlformats.org/officeDocument/2006/relationships/hyperlink" Target="https://en.wikipedia.org/wiki/Bayesian_optimization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967343"/>
            <a:ext cx="609600" cy="5715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329293"/>
            <a:ext cx="9001125" cy="1618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>
                <a:solidFill>
                  <a:schemeClr val="bg1"/>
                </a:solidFill>
              </a:rPr>
              <a:t>Mathematical Optimization &amp; Data Processing for Physical Constant Calibration via ML</a:t>
            </a:r>
          </a:p>
          <a:p>
            <a:pPr algn="l">
              <a:lnSpc>
                <a:spcPts val="5940"/>
              </a:lnSpc>
            </a:pPr>
            <a:endParaRPr sz="54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312153"/>
            <a:ext cx="8001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 dirty="0">
                <a:solidFill>
                  <a:srgbClr val="94A3B8"/>
                </a:solidFill>
                <a:latin typeface="Inter"/>
              </a:rPr>
              <a:t>Instantaneous thermal constant calibration via machine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1650"/>
            <a:ext cx="4010025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Inter"/>
              </a:rPr>
              <a:t>Alexandra</a:t>
            </a:r>
            <a:r>
              <a:rPr lang="en-US" sz="1800" b="1" i="0" u="none" dirty="0">
                <a:solidFill>
                  <a:srgbClr val="F8FAFC"/>
                </a:solidFill>
                <a:latin typeface="Inter"/>
              </a:rPr>
              <a:t> Maria Titel</a:t>
            </a:r>
            <a:endParaRPr sz="18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895975"/>
            <a:ext cx="40100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Inter"/>
              </a:rPr>
              <a:t>Curious Minds — Software Summer School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77300" y="5895974"/>
            <a:ext cx="25527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50" b="0" i="0" u="none" dirty="0">
                <a:solidFill>
                  <a:srgbClr val="94A3B8"/>
                </a:solidFill>
                <a:latin typeface="Inter"/>
              </a:rPr>
              <a:t>Signal Processing &amp; Algorithms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1A71F-0659-2C74-C997-712DDB814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95" y="6216770"/>
            <a:ext cx="1231817" cy="50949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7F95CA-4DBB-9E05-1BC1-B44D3CE56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72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86E6A13-CBCD-DD25-59A1-0E21A99C0AFB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877442"/>
            <a:ext cx="5753100" cy="23221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Direct Inference from </a:t>
            </a:r>
            <a:r>
              <a:rPr lang="en-US" sz="3000" b="1" i="0" u="none" dirty="0">
                <a:solidFill>
                  <a:schemeClr val="bg1"/>
                </a:solidFill>
                <a:latin typeface="Inter"/>
              </a:rPr>
              <a:t>Sensor</a:t>
            </a:r>
            <a:r>
              <a:rPr sz="3000" b="1" i="0" u="none" dirty="0">
                <a:solidFill>
                  <a:schemeClr val="bg1"/>
                </a:solidFill>
                <a:latin typeface="Inter"/>
              </a:rPr>
              <a:t>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49992"/>
            <a:ext cx="4762500" cy="1114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A1128"/>
                </a:solidFill>
                <a:latin typeface="Inter"/>
              </a:rPr>
              <a:t>Replacing iterative numerical solvers with direct ML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63469"/>
            <a:ext cx="47625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1650" b="0" i="0" u="none" dirty="0">
                <a:solidFill>
                  <a:srgbClr val="475569"/>
                </a:solidFill>
                <a:latin typeface="Inter"/>
              </a:rPr>
              <a:t>Traditional calibration relies on expensive iterative solvers. We can extract physics-motivated features from the sensor window and map them to calibrated constants through a trained model.</a:t>
            </a:r>
            <a:endParaRPr sz="16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62700" y="3274126"/>
            <a:ext cx="50006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Core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2700" y="3640304"/>
            <a:ext cx="47625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dirty="0"/>
              <a:t>A model trained once, offline, can match classical solvers on accuracy while replacing their per-calibration search with a single forward pass.</a:t>
            </a:r>
            <a:endParaRPr sz="1800" b="0" i="0" u="none" dirty="0">
              <a:solidFill>
                <a:srgbClr val="0A1128"/>
              </a:solidFill>
              <a:latin typeface="Inter Medium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62700" y="4533423"/>
            <a:ext cx="4762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1800" b="1" i="0" u="none" dirty="0">
                <a:solidFill>
                  <a:srgbClr val="009999"/>
                </a:solidFill>
                <a:latin typeface="Inter"/>
              </a:rPr>
              <a:t>Zero simulator rollouts per calibration.</a:t>
            </a:r>
            <a:endParaRPr sz="1800" b="1" i="0" u="none" dirty="0">
              <a:solidFill>
                <a:srgbClr val="009999"/>
              </a:solidFill>
              <a:latin typeface="Inter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CA43B33-8155-24F1-D983-048F18882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eader Band"/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20380"/>
            <a:ext cx="3454449" cy="17697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49" y="3420367"/>
            <a:ext cx="3454449" cy="19697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3520380"/>
            <a:ext cx="3454449" cy="1769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Why constant calibration?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86942"/>
            <a:ext cx="109728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475569"/>
                </a:solidFill>
                <a:latin typeface="Inter"/>
              </a:rPr>
              <a:t>Physical parameters degrade continuously. Uncalibrated models trigger false limits.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6328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396680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Material 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85270"/>
            <a:ext cx="28448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Thermal degradation over time.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649" y="3763267"/>
            <a:ext cx="3429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3649" y="4296667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Fabrication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49" y="4685258"/>
            <a:ext cx="2844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Individual manufacturing tolerances.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899" y="386328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32899" y="4396680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Dynamic Conditions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899" y="4785270"/>
            <a:ext cx="284484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Changing ambient temperatures.</a:t>
            </a:r>
          </a:p>
        </p:txBody>
      </p:sp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67E506D-FAFE-B4B8-7297-8188D9D4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48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eader Band"/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6443"/>
            <a:ext cx="4212431" cy="13601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75183"/>
            <a:ext cx="4212431" cy="1360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PHYSICS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Heat Transfer Dynamics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231" y="1409700"/>
            <a:ext cx="6303168" cy="502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691243"/>
            <a:ext cx="378297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1-Node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1733"/>
            <a:ext cx="360283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Single thermal mass. Calibrates heat transfer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hA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79983"/>
            <a:ext cx="378297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2-Node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30473"/>
            <a:ext cx="360283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Winding and housing. Calibrates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hA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and conduction </a:t>
            </a:r>
            <a:r>
              <a:rPr sz="1350" b="1" i="0" u="none">
                <a:solidFill>
                  <a:srgbClr val="475569"/>
                </a:solidFill>
                <a:latin typeface="Inter"/>
              </a:rPr>
              <a:t>k_wh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4" name="Copied Picture 14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59BB306-C0FE-9DFA-BCED-E816599E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63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ader Band">
            <a:extLst>
              <a:ext uri="{FF2B5EF4-FFF2-40B4-BE49-F238E27FC236}">
                <a16:creationId xmlns:a16="http://schemas.microsoft.com/office/drawing/2014/main" id="{1735D2A8-E785-0DB1-F527-4495CF6EE553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241053"/>
            <a:ext cx="8572500" cy="20082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85000"/>
                  </a:schemeClr>
                </a:solidFill>
                <a:latin typeface="Inter"/>
              </a:rPr>
              <a:t>PHYSICS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Fundamental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5517" y="2698253"/>
            <a:ext cx="7720965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 dirty="0">
                <a:solidFill>
                  <a:srgbClr val="94A3B8"/>
                </a:solidFill>
                <a:latin typeface="Inter"/>
              </a:rPr>
              <a:t>ENERGY BALANCE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350" y="3109614"/>
            <a:ext cx="7353300" cy="6825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38906" y="4858940"/>
            <a:ext cx="1510188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>
                <a:solidFill>
                  <a:srgbClr val="0A1128"/>
                </a:solidFill>
                <a:latin typeface="Inter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4862" y="5255121"/>
            <a:ext cx="14382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Thermal capacity.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96214" y="4858940"/>
            <a:ext cx="217027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 dirty="0" err="1">
                <a:solidFill>
                  <a:srgbClr val="009999"/>
                </a:solidFill>
                <a:latin typeface="Inter"/>
              </a:rPr>
              <a:t>hA</a:t>
            </a:r>
            <a:endParaRPr sz="2100" b="1" i="0" u="none" dirty="0">
              <a:solidFill>
                <a:srgbClr val="009999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95036" y="5255120"/>
            <a:ext cx="20669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Inter"/>
              </a:rPr>
              <a:t>Heat transfer (unknown).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06" y="4858940"/>
            <a:ext cx="113014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>
                <a:solidFill>
                  <a:srgbClr val="0A1128"/>
                </a:solidFill>
                <a:latin typeface="Inter"/>
              </a:rPr>
              <a:t>I²R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514" y="5255121"/>
            <a:ext cx="1076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Joule losses.</a:t>
            </a:r>
          </a:p>
        </p:txBody>
      </p:sp>
      <p:pic>
        <p:nvPicPr>
          <p:cNvPr id="17" name="Copied Picture 16">
            <a:extLst>
              <a:ext uri="{FF2B5EF4-FFF2-40B4-BE49-F238E27FC236}">
                <a16:creationId xmlns:a16="http://schemas.microsoft.com/office/drawing/2014/main" id="{A30258C3-21EC-7754-55A6-A4B1AEEA7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289C01E-FA25-7890-5822-BDC38E0A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356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2192000" cy="464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312937"/>
            <a:ext cx="9144000" cy="239791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5869" y="6362700"/>
            <a:ext cx="105653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35480" y="2617737"/>
            <a:ext cx="8321040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39"/>
              </a:lnSpc>
            </a:pPr>
            <a:r>
              <a:rPr sz="1200" b="1" i="0" u="none" dirty="0">
                <a:solidFill>
                  <a:srgbClr val="94A3B8"/>
                </a:solidFill>
                <a:latin typeface="Inter"/>
              </a:rPr>
              <a:t>WINDING &amp; HOUSING (2-NODE MODEL)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7675" y="2952898"/>
            <a:ext cx="4616499" cy="61227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3006" y="3793777"/>
            <a:ext cx="6465986" cy="6122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38312" y="5168056"/>
            <a:ext cx="30003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>
                <a:solidFill>
                  <a:srgbClr val="009999"/>
                </a:solidFill>
                <a:latin typeface="Inter"/>
              </a:rPr>
              <a:t>k_wh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9750" y="5564237"/>
            <a:ext cx="2857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Inter"/>
              </a:rPr>
              <a:t>Internal conduction</a:t>
            </a:r>
            <a:r>
              <a:rPr lang="en-US" sz="1350" b="0" i="0" u="none" dirty="0">
                <a:solidFill>
                  <a:srgbClr val="64748B"/>
                </a:solidFill>
                <a:latin typeface="Inter"/>
              </a:rPr>
              <a:t> (unknown)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5812" y="5168056"/>
            <a:ext cx="30003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>
                <a:solidFill>
                  <a:srgbClr val="009999"/>
                </a:solidFill>
                <a:latin typeface="Inter"/>
              </a:rPr>
              <a:t>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0" y="5564237"/>
            <a:ext cx="28575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64748B"/>
                </a:solidFill>
                <a:latin typeface="Inter"/>
              </a:rPr>
              <a:t>External convection</a:t>
            </a:r>
            <a:r>
              <a:rPr lang="en-US" sz="1350" b="0" i="0" u="none" dirty="0">
                <a:solidFill>
                  <a:srgbClr val="64748B"/>
                </a:solidFill>
                <a:latin typeface="Inter"/>
              </a:rPr>
              <a:t> (unknown)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3312" y="5168056"/>
            <a:ext cx="300037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sz="2100" b="1" i="0" u="none" dirty="0" err="1">
                <a:solidFill>
                  <a:srgbClr val="0A1128"/>
                </a:solidFill>
                <a:latin typeface="Inter"/>
              </a:rPr>
              <a:t>T_w</a:t>
            </a:r>
            <a:r>
              <a:rPr sz="2100" b="1" i="0" u="none" dirty="0">
                <a:solidFill>
                  <a:srgbClr val="0A1128"/>
                </a:solidFill>
                <a:latin typeface="Inter"/>
              </a:rPr>
              <a:t> &amp; </a:t>
            </a:r>
            <a:r>
              <a:rPr sz="2100" b="1" i="0" u="none" dirty="0" err="1">
                <a:solidFill>
                  <a:srgbClr val="0A1128"/>
                </a:solidFill>
                <a:latin typeface="Inter"/>
              </a:rPr>
              <a:t>T_h</a:t>
            </a:r>
            <a:endParaRPr sz="2100" b="1" i="0" u="none" dirty="0">
              <a:solidFill>
                <a:srgbClr val="0A112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24750" y="5564237"/>
            <a:ext cx="2857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Inter"/>
              </a:rPr>
              <a:t>Winding / Housing temps.</a:t>
            </a:r>
          </a:p>
        </p:txBody>
      </p:sp>
      <p:sp>
        <p:nvSpPr>
          <p:cNvPr id="18" name="Header Band">
            <a:extLst>
              <a:ext uri="{FF2B5EF4-FFF2-40B4-BE49-F238E27FC236}">
                <a16:creationId xmlns:a16="http://schemas.microsoft.com/office/drawing/2014/main" id="{3AC024D1-8222-A1F5-D03F-209C439CB983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4C035E-5E53-509A-2660-37D393B2695C}"/>
              </a:ext>
            </a:extLst>
          </p:cNvPr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85000"/>
                  </a:schemeClr>
                </a:solidFill>
                <a:latin typeface="Inter"/>
              </a:rPr>
              <a:t>PHYSICS FUNDAMENTALS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95FF71-85E3-A75D-3511-DB404D3A9F61}"/>
              </a:ext>
            </a:extLst>
          </p:cNvPr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GB" sz="3000" b="1" dirty="0">
                <a:solidFill>
                  <a:srgbClr val="FFFFFF"/>
                </a:solidFill>
                <a:latin typeface="Inter"/>
              </a:rPr>
              <a:t>Coupled Energy Balance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0430487-C270-139B-BF81-557009547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1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42120"/>
            <a:ext cx="10668000" cy="1133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6842" y="11230553"/>
            <a:ext cx="1066800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sz="1200" b="0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2670720"/>
            <a:ext cx="271462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 dirty="0">
                <a:solidFill>
                  <a:srgbClr val="009999"/>
                </a:solidFill>
                <a:latin typeface="Space Grotesk"/>
              </a:rPr>
              <a:t>1203 →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46842" y="7539616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80442" y="7539616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14242" y="7539616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8625" y="2756445"/>
            <a:ext cx="6505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0028"/>
                </a:solidFill>
                <a:latin typeface="Inter SemiBold"/>
              </a:rPr>
              <a:t>current (601) + measured temperature (601) + ambient (1) → 15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8625" y="3061245"/>
            <a:ext cx="650557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Inter"/>
              </a:rPr>
              <a:t>80× fewer numbers.</a:t>
            </a:r>
            <a:r>
              <a:rPr lang="en-US"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GB" sz="1350" dirty="0">
                <a:solidFill>
                  <a:srgbClr val="475569"/>
                </a:solidFill>
                <a:latin typeface="Inter"/>
              </a:rPr>
              <a:t>T</a:t>
            </a:r>
            <a:r>
              <a:rPr lang="en-GB" sz="1350" b="0" i="0" u="none" dirty="0">
                <a:solidFill>
                  <a:srgbClr val="475569"/>
                </a:solidFill>
                <a:latin typeface="Inter"/>
              </a:rPr>
              <a:t>he discarded part is the noise.</a:t>
            </a:r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46842" y="825399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80442" y="8253991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14242" y="8253991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6842" y="8968366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80442" y="8968366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714242" y="8968366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6842" y="9482716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80442" y="9482716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14242" y="9482716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6842" y="10197091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980442" y="10197091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14242" y="10197091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6842" y="10911466"/>
            <a:ext cx="2133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980442" y="10911466"/>
            <a:ext cx="3733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14242" y="10911466"/>
            <a:ext cx="4800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Header Band">
            <a:extLst>
              <a:ext uri="{FF2B5EF4-FFF2-40B4-BE49-F238E27FC236}">
                <a16:creationId xmlns:a16="http://schemas.microsoft.com/office/drawing/2014/main" id="{2E25F1C9-2350-C7BB-7A02-FB51E5763681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282AA8-5F28-C9E6-F83F-A3367272A905}"/>
              </a:ext>
            </a:extLst>
          </p:cNvPr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ARCHITECTURE </a:t>
            </a:r>
            <a:r>
              <a:rPr lang="en-GB"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1/3</a:t>
            </a:r>
            <a:endParaRPr sz="1200" b="1" i="0" u="none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DDA46-C4EE-3257-C8AE-582FDA7159C9}"/>
              </a:ext>
            </a:extLst>
          </p:cNvPr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Physics-Motivated Features</a:t>
            </a:r>
          </a:p>
        </p:txBody>
      </p:sp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6065EBF3-66E5-6D58-A15E-2939C6A60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873500"/>
            <a:ext cx="2012321" cy="174076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824A08A-6B08-6049-D808-FA0DE9D1C1DD}"/>
              </a:ext>
            </a:extLst>
          </p:cNvPr>
          <p:cNvSpPr txBox="1"/>
          <p:nvPr/>
        </p:nvSpPr>
        <p:spPr>
          <a:xfrm>
            <a:off x="799708" y="4267725"/>
            <a:ext cx="1968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000028"/>
                </a:solidFill>
                <a:latin typeface="Inter"/>
              </a:rPr>
              <a:t>Physics anchor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EBDA2F-4C40-E20F-06B3-8A9179AE731F}"/>
              </a:ext>
            </a:extLst>
          </p:cNvPr>
          <p:cNvSpPr txBox="1"/>
          <p:nvPr/>
        </p:nvSpPr>
        <p:spPr>
          <a:xfrm>
            <a:off x="846842" y="4622881"/>
            <a:ext cx="19685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hA_energy_balance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hA_steady_state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hA_from_tau</a:t>
            </a:r>
            <a:endParaRPr lang="en-GB" sz="1400" dirty="0">
              <a:solidFill>
                <a:srgbClr val="009999"/>
              </a:solidFill>
              <a:latin typeface="Space Grotesk Medium"/>
            </a:endParaRPr>
          </a:p>
        </p:txBody>
      </p:sp>
      <p:pic>
        <p:nvPicPr>
          <p:cNvPr id="60" name="Picture 59" descr="image.png">
            <a:extLst>
              <a:ext uri="{FF2B5EF4-FFF2-40B4-BE49-F238E27FC236}">
                <a16:creationId xmlns:a16="http://schemas.microsoft.com/office/drawing/2014/main" id="{D78E4582-E735-D165-1BC5-0FF45BB9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3873500"/>
            <a:ext cx="2012321" cy="1740761"/>
          </a:xfrm>
          <a:prstGeom prst="rect">
            <a:avLst/>
          </a:prstGeom>
        </p:spPr>
      </p:pic>
      <p:pic>
        <p:nvPicPr>
          <p:cNvPr id="62" name="Picture 61" descr="image.png">
            <a:extLst>
              <a:ext uri="{FF2B5EF4-FFF2-40B4-BE49-F238E27FC236}">
                <a16:creationId xmlns:a16="http://schemas.microsoft.com/office/drawing/2014/main" id="{DFE6E497-9F61-3CB7-4139-ECD09293F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0" y="3873500"/>
            <a:ext cx="2012321" cy="1740761"/>
          </a:xfrm>
          <a:prstGeom prst="rect">
            <a:avLst/>
          </a:prstGeom>
        </p:spPr>
      </p:pic>
      <p:pic>
        <p:nvPicPr>
          <p:cNvPr id="64" name="Picture 63" descr="image.png">
            <a:extLst>
              <a:ext uri="{FF2B5EF4-FFF2-40B4-BE49-F238E27FC236}">
                <a16:creationId xmlns:a16="http://schemas.microsoft.com/office/drawing/2014/main" id="{F86790E3-1DEA-B815-82AD-3C78BAFCD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3873500"/>
            <a:ext cx="2012321" cy="1740761"/>
          </a:xfrm>
          <a:prstGeom prst="rect">
            <a:avLst/>
          </a:prstGeom>
        </p:spPr>
      </p:pic>
      <p:pic>
        <p:nvPicPr>
          <p:cNvPr id="66" name="Picture 65" descr="image.png">
            <a:extLst>
              <a:ext uri="{FF2B5EF4-FFF2-40B4-BE49-F238E27FC236}">
                <a16:creationId xmlns:a16="http://schemas.microsoft.com/office/drawing/2014/main" id="{7543C213-0BFB-483F-787A-FF1C3ECD4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400" y="3873500"/>
            <a:ext cx="2012321" cy="174076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1D8B88F-F228-F694-FD71-3C82A106D74A}"/>
              </a:ext>
            </a:extLst>
          </p:cNvPr>
          <p:cNvSpPr txBox="1"/>
          <p:nvPr/>
        </p:nvSpPr>
        <p:spPr>
          <a:xfrm>
            <a:off x="2958708" y="4267725"/>
            <a:ext cx="1968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000028"/>
                </a:solidFill>
                <a:latin typeface="Inter"/>
              </a:rPr>
              <a:t>Trust signals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A3907F-F568-B246-6F71-26FFC5114563}"/>
              </a:ext>
            </a:extLst>
          </p:cNvPr>
          <p:cNvSpPr txBox="1"/>
          <p:nvPr/>
        </p:nvSpPr>
        <p:spPr>
          <a:xfrm>
            <a:off x="5130408" y="4267725"/>
            <a:ext cx="1968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000028"/>
                </a:solidFill>
                <a:latin typeface="Inter"/>
              </a:rPr>
              <a:t>Temperature rise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4340D38-A44E-7353-8EF1-EEAA1E1C851F}"/>
              </a:ext>
            </a:extLst>
          </p:cNvPr>
          <p:cNvSpPr txBox="1"/>
          <p:nvPr/>
        </p:nvSpPr>
        <p:spPr>
          <a:xfrm>
            <a:off x="7302108" y="4267725"/>
            <a:ext cx="1968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000028"/>
                </a:solidFill>
                <a:latin typeface="Inter"/>
              </a:rPr>
              <a:t>Load descriptors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14D7C8C-6D64-45FD-8C5F-3B8E2F0F93B1}"/>
              </a:ext>
            </a:extLst>
          </p:cNvPr>
          <p:cNvSpPr txBox="1"/>
          <p:nvPr/>
        </p:nvSpPr>
        <p:spPr>
          <a:xfrm>
            <a:off x="9461108" y="4267725"/>
            <a:ext cx="19685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b="1" dirty="0">
                <a:solidFill>
                  <a:srgbClr val="000028"/>
                </a:solidFill>
                <a:latin typeface="Inter"/>
              </a:rPr>
              <a:t>Context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4C364C4-6678-5929-9362-36B72FC3B7A9}"/>
              </a:ext>
            </a:extLst>
          </p:cNvPr>
          <p:cNvSpPr txBox="1"/>
          <p:nvPr/>
        </p:nvSpPr>
        <p:spPr>
          <a:xfrm>
            <a:off x="3005842" y="4622881"/>
            <a:ext cx="19685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tau_63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initial_slope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final_slope</a:t>
            </a:r>
            <a:endParaRPr lang="en-GB" sz="1400" dirty="0">
              <a:solidFill>
                <a:srgbClr val="009999"/>
              </a:solidFill>
              <a:latin typeface="Space Grotesk Medium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49397BD-429F-0C36-9663-41A34DED4EE5}"/>
              </a:ext>
            </a:extLst>
          </p:cNvPr>
          <p:cNvSpPr txBox="1"/>
          <p:nvPr/>
        </p:nvSpPr>
        <p:spPr>
          <a:xfrm>
            <a:off x="5177542" y="4622881"/>
            <a:ext cx="19685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T_rise_final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T_rise_max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T_rise_mean</a:t>
            </a:r>
            <a:endParaRPr lang="en-GB" sz="1400" dirty="0">
              <a:solidFill>
                <a:srgbClr val="009999"/>
              </a:solidFill>
              <a:latin typeface="Space Grotesk Medium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82DB5F-BDFD-ED32-8369-74BCC409B563}"/>
              </a:ext>
            </a:extLst>
          </p:cNvPr>
          <p:cNvSpPr txBox="1"/>
          <p:nvPr/>
        </p:nvSpPr>
        <p:spPr>
          <a:xfrm>
            <a:off x="7349242" y="4622881"/>
            <a:ext cx="196850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I_rms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I_mean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I_std</a:t>
            </a:r>
            <a:r>
              <a:rPr lang="en-GB" sz="1400" dirty="0">
                <a:solidFill>
                  <a:srgbClr val="009999"/>
                </a:solidFill>
                <a:latin typeface="Space Grotesk Medium"/>
              </a:rPr>
              <a:t> · </a:t>
            </a:r>
            <a:r>
              <a:rPr lang="en-GB" sz="1400" dirty="0" err="1">
                <a:solidFill>
                  <a:srgbClr val="009999"/>
                </a:solidFill>
                <a:latin typeface="Space Grotesk Medium"/>
              </a:rPr>
              <a:t>P_mean</a:t>
            </a:r>
            <a:endParaRPr lang="en-GB" sz="1400" dirty="0">
              <a:solidFill>
                <a:srgbClr val="009999"/>
              </a:solidFill>
              <a:latin typeface="Space Grotesk Medium"/>
            </a:endParaRPr>
          </a:p>
          <a:p>
            <a:pPr algn="ctr"/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C02EF5-5A9F-E3BB-E6E2-B589079D2132}"/>
              </a:ext>
            </a:extLst>
          </p:cNvPr>
          <p:cNvSpPr txBox="1"/>
          <p:nvPr/>
        </p:nvSpPr>
        <p:spPr>
          <a:xfrm>
            <a:off x="9508242" y="4622881"/>
            <a:ext cx="196850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fr-FR" sz="1400" dirty="0" err="1">
                <a:solidFill>
                  <a:srgbClr val="009999"/>
                </a:solidFill>
                <a:latin typeface="Space Grotesk Medium"/>
              </a:rPr>
              <a:t>T_ambient</a:t>
            </a:r>
            <a:r>
              <a:rPr lang="fr-FR" sz="1400" dirty="0">
                <a:solidFill>
                  <a:srgbClr val="009999"/>
                </a:solidFill>
                <a:latin typeface="Space Grotesk Medium"/>
              </a:rPr>
              <a:t> ·</a:t>
            </a:r>
          </a:p>
          <a:p>
            <a:pPr algn="ctr"/>
            <a:r>
              <a:rPr lang="fr-FR" sz="1400" dirty="0">
                <a:solidFill>
                  <a:srgbClr val="009999"/>
                </a:solidFill>
                <a:latin typeface="Space Grotesk Medium"/>
              </a:rPr>
              <a:t> </a:t>
            </a:r>
            <a:r>
              <a:rPr lang="fr-FR" sz="1400" dirty="0" err="1">
                <a:solidFill>
                  <a:srgbClr val="009999"/>
                </a:solidFill>
                <a:latin typeface="Space Grotesk Medium"/>
              </a:rPr>
              <a:t>noise_std_est</a:t>
            </a:r>
            <a:endParaRPr lang="fr-FR" sz="1400" dirty="0">
              <a:solidFill>
                <a:srgbClr val="009999"/>
              </a:solidFill>
              <a:latin typeface="Space Grotesk Medium"/>
            </a:endParaRPr>
          </a:p>
          <a:p>
            <a:pPr algn="ctr"/>
            <a:endParaRPr sz="1350" b="0" i="0" u="none" dirty="0">
              <a:solidFill>
                <a:srgbClr val="475569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4015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995FCB29-425E-FB16-1429-57C9B8B5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50" y="2537884"/>
            <a:ext cx="3403550" cy="1379041"/>
          </a:xfrm>
          <a:prstGeom prst="rect">
            <a:avLst/>
          </a:prstGeom>
        </p:spPr>
      </p:pic>
      <p:sp>
        <p:nvSpPr>
          <p:cNvPr id="37" name="Header Band">
            <a:extLst>
              <a:ext uri="{FF2B5EF4-FFF2-40B4-BE49-F238E27FC236}">
                <a16:creationId xmlns:a16="http://schemas.microsoft.com/office/drawing/2014/main" id="{2E24C395-D346-ABC9-EB08-E5AF08ECF5C9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548681"/>
            <a:ext cx="3403550" cy="13790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300" y="2548681"/>
            <a:ext cx="3403550" cy="1379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250" y="361950"/>
            <a:ext cx="10668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85000"/>
                  </a:schemeClr>
                </a:solidFill>
                <a:latin typeface="Inter"/>
              </a:rPr>
              <a:t>ARCHITECTURE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250" y="644628"/>
            <a:ext cx="11201400" cy="460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29"/>
              </a:lnSpc>
            </a:pPr>
            <a:r>
              <a:rPr sz="3000" b="1" dirty="0">
                <a:solidFill>
                  <a:schemeClr val="bg1"/>
                </a:solidFill>
                <a:latin typeface="Inter"/>
              </a:rPr>
              <a:t>Training Scale &amp; Generalization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37082"/>
              </p:ext>
            </p:extLst>
          </p:nvPr>
        </p:nvGraphicFramePr>
        <p:xfrm>
          <a:off x="762000" y="4263032"/>
          <a:ext cx="10667998" cy="201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1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MAPE 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Train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Gap test-train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1-node hA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1.773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1.820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28"/>
                          </a:solidFill>
                          <a:latin typeface="Inter"/>
                        </a:rPr>
                        <a:t>1.815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09999"/>
                          </a:solidFill>
                          <a:latin typeface="Inter Medium"/>
                        </a:rPr>
                        <a:t>+0.04 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2-node hA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1.754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2.002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28"/>
                          </a:solidFill>
                          <a:latin typeface="Inter"/>
                        </a:rPr>
                        <a:t>1.817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9999"/>
                          </a:solidFill>
                          <a:latin typeface="Inter Medium"/>
                        </a:rPr>
                        <a:t>+0.06 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2-node k_wh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3.570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00028"/>
                          </a:solidFill>
                          <a:latin typeface="Inter"/>
                        </a:rPr>
                        <a:t>3.930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0028"/>
                          </a:solidFill>
                          <a:latin typeface="Inter"/>
                        </a:rPr>
                        <a:t>3.895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09999"/>
                          </a:solidFill>
                          <a:latin typeface="Inter Medium"/>
                        </a:rPr>
                        <a:t>+0.33 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62000" y="4724995"/>
            <a:ext cx="29869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748980" y="47249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160" y="47249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589341" y="47249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09521" y="4724995"/>
            <a:ext cx="192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0600" y="2777281"/>
            <a:ext cx="309366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>
                <a:solidFill>
                  <a:srgbClr val="000028"/>
                </a:solidFill>
                <a:latin typeface="Space Grotesk"/>
              </a:rPr>
              <a:t>7 600 motors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272581"/>
            <a:ext cx="29463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per testbed — 6 000 train / 800 val / 800 test. 601 samples 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2750" y="2773655"/>
            <a:ext cx="309366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 dirty="0">
                <a:solidFill>
                  <a:srgbClr val="000028"/>
                </a:solidFill>
                <a:latin typeface="Space Grotesk"/>
              </a:rPr>
              <a:t>~1 000 params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2750" y="3261787"/>
            <a:ext cx="2946350" cy="422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15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/24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 → Dense(32) → Dense(16) → 1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/2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 Converged in 95 epochs via early stopping.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4900" y="2777281"/>
            <a:ext cx="3093667" cy="3901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 dirty="0">
                <a:solidFill>
                  <a:srgbClr val="000028"/>
                </a:solidFill>
                <a:latin typeface="Space Grotesk"/>
              </a:rPr>
              <a:t>1.</a:t>
            </a:r>
            <a:r>
              <a:rPr lang="en-US" sz="3000" b="1" i="0" u="none" dirty="0">
                <a:solidFill>
                  <a:srgbClr val="000028"/>
                </a:solidFill>
                <a:latin typeface="Space Grotesk"/>
              </a:rPr>
              <a:t>52</a:t>
            </a:r>
            <a:r>
              <a:rPr sz="3000" b="1" i="0" u="none" dirty="0">
                <a:solidFill>
                  <a:srgbClr val="000028"/>
                </a:solidFill>
                <a:latin typeface="Space Grotesk"/>
              </a:rPr>
              <a:t>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4900" y="3272581"/>
            <a:ext cx="29463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full training time on CPU</a:t>
            </a:r>
            <a:r>
              <a:rPr lang="en-US" sz="1200" b="0" i="0" u="none" dirty="0">
                <a:solidFill>
                  <a:srgbClr val="475569"/>
                </a:solidFill>
                <a:latin typeface="Inter"/>
              </a:rPr>
              <a:t> for 2-node model</a:t>
            </a:r>
            <a:r>
              <a:rPr sz="1200" b="0" i="0" u="none" dirty="0">
                <a:solidFill>
                  <a:srgbClr val="475569"/>
                </a:solidFill>
                <a:latin typeface="Inter"/>
              </a:rPr>
              <a:t>. The expensive work is paid once, offline.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2000" y="5239345"/>
            <a:ext cx="29869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748980" y="52393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160" y="52393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89341" y="52393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521" y="5239345"/>
            <a:ext cx="192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2000" y="5753695"/>
            <a:ext cx="29869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748980" y="57536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160" y="57536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89341" y="575369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09521" y="5753695"/>
            <a:ext cx="192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2000" y="6268045"/>
            <a:ext cx="29869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48980" y="62680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160" y="62680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89341" y="6268045"/>
            <a:ext cx="19201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09521" y="6268045"/>
            <a:ext cx="1920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6296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eader Band"/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640359"/>
            <a:ext cx="5715000" cy="27964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ARCHITECTURE </a:t>
            </a:r>
            <a:r>
              <a:rPr lang="en-US"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3</a:t>
            </a:r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/</a:t>
            </a:r>
            <a:r>
              <a:rPr lang="en-US"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3</a:t>
            </a:r>
            <a:endParaRPr sz="1200" b="1" i="0" u="none" dirty="0">
              <a:solidFill>
                <a:schemeClr val="bg1">
                  <a:lumMod val="75000"/>
                </a:schemeClr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Residual MLP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170" y="2631423"/>
            <a:ext cx="504063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Inter"/>
              </a:rPr>
              <a:t>Never relearn basic physics.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170" y="3097559"/>
            <a:ext cx="4800600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1650" b="0" i="0" u="none" dirty="0">
                <a:solidFill>
                  <a:srgbClr val="475569"/>
                </a:solidFill>
                <a:latin typeface="Inter"/>
              </a:rPr>
              <a:t>The network predicts a residual correction on top of the closed-form physics estimator. Selected on validation over additive and unanchored variants</a:t>
            </a:r>
            <a:endParaRPr sz="1650" b="0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00559" y="3279514"/>
            <a:ext cx="504063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1" i="0" u="none" dirty="0">
                <a:solidFill>
                  <a:srgbClr val="94A3B8"/>
                </a:solidFill>
                <a:latin typeface="Inter"/>
              </a:rPr>
              <a:t>Forward pass</a:t>
            </a:r>
            <a:endParaRPr sz="1350" b="1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500" y="4194930"/>
            <a:ext cx="442912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Inter"/>
              </a:rPr>
              <a:t>Topology:</a:t>
            </a:r>
            <a:r>
              <a:rPr sz="1500" b="0" i="0" u="none" dirty="0">
                <a:solidFill>
                  <a:srgbClr val="0F172A"/>
                </a:solidFill>
                <a:latin typeface="Inter"/>
              </a:rPr>
              <a:t> Dense(32) → Dense(16)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583310"/>
            <a:ext cx="44577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Loss:</a:t>
            </a:r>
            <a:r>
              <a:rPr sz="1500" b="0" i="0" u="none">
                <a:solidFill>
                  <a:srgbClr val="0F172A"/>
                </a:solidFill>
                <a:latin typeface="Inter"/>
              </a:rPr>
              <a:t> Normalized MSE via Adam.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964310"/>
            <a:ext cx="44577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Failsafe:</a:t>
            </a:r>
            <a:r>
              <a:rPr sz="1500" b="0" i="0" u="none">
                <a:solidFill>
                  <a:srgbClr val="0F172A"/>
                </a:solidFill>
                <a:latin typeface="Inter"/>
              </a:rPr>
              <a:t> Defaults to pure physics.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216598"/>
            <a:ext cx="21907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597598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978598"/>
            <a:ext cx="190500" cy="200025"/>
          </a:xfrm>
          <a:prstGeom prst="rect">
            <a:avLst/>
          </a:prstGeom>
        </p:spPr>
      </p:pic>
      <p:pic>
        <p:nvPicPr>
          <p:cNvPr id="16" name="Copied Picture 16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AE87A9F-623B-177B-CC01-915652F6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9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FDCA11-027D-F4AD-6029-68E67EDDC08E}"/>
              </a:ext>
            </a:extLst>
          </p:cNvPr>
          <p:cNvSpPr txBox="1"/>
          <p:nvPr/>
        </p:nvSpPr>
        <p:spPr>
          <a:xfrm>
            <a:off x="506155" y="6018867"/>
            <a:ext cx="80110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475569"/>
                </a:solidFill>
                <a:latin typeface="Inter"/>
              </a:rPr>
              <a:t>Validation: unanchored 2.11% · additive 1.86% · multiplicative 1.82% error vs true </a:t>
            </a:r>
            <a:r>
              <a:rPr lang="en-GB" sz="1200" dirty="0" err="1">
                <a:solidFill>
                  <a:srgbClr val="475569"/>
                </a:solidFill>
                <a:latin typeface="Inter"/>
              </a:rPr>
              <a:t>hA</a:t>
            </a:r>
            <a:endParaRPr lang="en-GB" sz="120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DE8932-6CC1-75A8-8E97-87315FBDB0EE}"/>
              </a:ext>
            </a:extLst>
          </p:cNvPr>
          <p:cNvSpPr txBox="1"/>
          <p:nvPr/>
        </p:nvSpPr>
        <p:spPr>
          <a:xfrm>
            <a:off x="6096000" y="3620730"/>
            <a:ext cx="52497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1. 15 features in</a:t>
            </a:r>
          </a:p>
          <a:p>
            <a:r>
              <a:rPr lang="en-GB" sz="1600" dirty="0">
                <a:solidFill>
                  <a:schemeClr val="bg1"/>
                </a:solidFill>
              </a:rPr>
              <a:t>2. Standardize (train mean/</a:t>
            </a:r>
            <a:r>
              <a:rPr lang="el-GR" sz="1600" dirty="0">
                <a:solidFill>
                  <a:schemeClr val="bg1"/>
                </a:solidFill>
              </a:rPr>
              <a:t>σ) 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l-GR" sz="1600" dirty="0">
                <a:solidFill>
                  <a:schemeClr val="bg1"/>
                </a:solidFill>
              </a:rPr>
              <a:t>3. 15 → 32 (</a:t>
            </a:r>
            <a:r>
              <a:rPr lang="en-GB" sz="1600" dirty="0" err="1">
                <a:solidFill>
                  <a:schemeClr val="bg1"/>
                </a:solidFill>
              </a:rPr>
              <a:t>ReLU</a:t>
            </a:r>
            <a:r>
              <a:rPr lang="en-GB" sz="1600" dirty="0">
                <a:solidFill>
                  <a:schemeClr val="bg1"/>
                </a:solidFill>
              </a:rPr>
              <a:t>) → 16 (</a:t>
            </a:r>
            <a:r>
              <a:rPr lang="en-GB" sz="1600" dirty="0" err="1">
                <a:solidFill>
                  <a:schemeClr val="bg1"/>
                </a:solidFill>
              </a:rPr>
              <a:t>ReLU</a:t>
            </a:r>
            <a:r>
              <a:rPr lang="en-GB" sz="1600" dirty="0">
                <a:solidFill>
                  <a:schemeClr val="bg1"/>
                </a:solidFill>
              </a:rPr>
              <a:t>) → 1 → single output: 0.3537</a:t>
            </a:r>
          </a:p>
          <a:p>
            <a:r>
              <a:rPr lang="en-GB" sz="1600" dirty="0">
                <a:solidFill>
                  <a:schemeClr val="bg1"/>
                </a:solidFill>
              </a:rPr>
              <a:t>4. De-standardize                         → z = 0.011032</a:t>
            </a:r>
          </a:p>
          <a:p>
            <a:r>
              <a:rPr lang="en-GB" sz="1600" dirty="0">
                <a:solidFill>
                  <a:schemeClr val="bg1"/>
                </a:solidFill>
              </a:rPr>
              <a:t>5. </a:t>
            </a:r>
            <a:r>
              <a:rPr lang="en-GB" sz="1600" dirty="0" err="1">
                <a:solidFill>
                  <a:schemeClr val="bg1"/>
                </a:solidFill>
              </a:rPr>
              <a:t>hA</a:t>
            </a:r>
            <a:r>
              <a:rPr lang="en-GB" sz="1600" dirty="0">
                <a:solidFill>
                  <a:schemeClr val="bg1"/>
                </a:solidFill>
              </a:rPr>
              <a:t> = anchor × exp(z) = 14.96 × 1.0111 → 15.13</a:t>
            </a:r>
          </a:p>
        </p:txBody>
      </p:sp>
    </p:spTree>
    <p:extLst>
      <p:ext uri="{BB962C8B-B14F-4D97-AF65-F5344CB8AC3E}">
        <p14:creationId xmlns:p14="http://schemas.microsoft.com/office/powerpoint/2010/main" val="5731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A3D7F77F-550A-65DF-84FD-04C59841F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77636"/>
            <a:ext cx="3429000" cy="2521775"/>
          </a:xfrm>
          <a:prstGeom prst="rect">
            <a:avLst/>
          </a:prstGeom>
        </p:spPr>
      </p:pic>
      <p:sp>
        <p:nvSpPr>
          <p:cNvPr id="500" name="Header Band"/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31286" y="2765077"/>
            <a:ext cx="3471917" cy="25468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3841" y="2765077"/>
            <a:ext cx="3471917" cy="2546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BASELINE ALTERNATIVES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Classical Calibration Solvers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9877"/>
            <a:ext cx="304038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A1128"/>
                </a:solidFill>
                <a:latin typeface="Inter"/>
              </a:rPr>
              <a:t>Genetic Algorithm (GA)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26148"/>
            <a:ext cx="2895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9999"/>
                </a:solidFill>
                <a:latin typeface="Inter"/>
              </a:rPr>
              <a:t>WHEN TO USE: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26173"/>
            <a:ext cx="2895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A1128"/>
                </a:solidFill>
                <a:latin typeface="Inter"/>
              </a:rPr>
              <a:t>Non-convex search spaces. Unconstrained offline compute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069877"/>
            <a:ext cx="304038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A1128"/>
                </a:solidFill>
                <a:latin typeface="Inter"/>
              </a:rPr>
              <a:t>Particle Swarm (PSO)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4426148"/>
            <a:ext cx="2895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9999"/>
                </a:solidFill>
                <a:latin typeface="Inter"/>
              </a:rPr>
              <a:t>WHEN TO USE: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4626173"/>
            <a:ext cx="2895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A1128"/>
                </a:solidFill>
                <a:latin typeface="Inter"/>
              </a:rPr>
              <a:t>Continuous search landscapes. Simpler tuning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069877"/>
            <a:ext cx="304038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0A1128"/>
                </a:solidFill>
                <a:latin typeface="Inter"/>
              </a:rPr>
              <a:t>Levenberg-Marquardt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4426148"/>
            <a:ext cx="2895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9999"/>
                </a:solidFill>
                <a:latin typeface="Inter"/>
              </a:rPr>
              <a:t>WHEN TO USE: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626173"/>
            <a:ext cx="2895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A1128"/>
                </a:solidFill>
                <a:latin typeface="Inter"/>
              </a:rPr>
              <a:t>Smooth mathematical models. Offline curve-fitting defaults.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34545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4736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Population-based metaheuristic.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37212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403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Evolves candidate solutions.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39879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070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Explores global parameter space.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075" y="34545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34736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Swarm intelligence tracking.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075" y="37212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37403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Follows local/global bests.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1075" y="39879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6800" y="40070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Continuous search mechanism.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875" y="34545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0600" y="34736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Non-linear least squares.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4875" y="37212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0600" y="37403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Gradient-based curve fitting.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4875" y="3987998"/>
            <a:ext cx="857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0600" y="4007048"/>
            <a:ext cx="2667000" cy="1905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Fits exact mathematical equations.</a:t>
            </a:r>
          </a:p>
        </p:txBody>
      </p:sp>
      <p:pic>
        <p:nvPicPr>
          <p:cNvPr id="34" name="Copied Picture 34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9B91E636-185D-1142-64B1-3C017080B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8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Header Band"/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691705"/>
            <a:ext cx="4533900" cy="2693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24600" y="2694809"/>
            <a:ext cx="4533900" cy="26874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75000"/>
                  </a:schemeClr>
                </a:solidFill>
                <a:latin typeface="Inter"/>
              </a:rPr>
              <a:t>BASELINE ALTERNATIVES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Sequential &amp; Bayesian Solvers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5450" y="2996505"/>
            <a:ext cx="4060507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A1128"/>
                </a:solidFill>
                <a:latin typeface="Inter"/>
              </a:rPr>
              <a:t>Extended Kalman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4480470"/>
            <a:ext cx="3867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9999"/>
                </a:solidFill>
                <a:latin typeface="Inter"/>
              </a:rPr>
              <a:t>WHEN TO 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4680495"/>
            <a:ext cx="3867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A1128"/>
                </a:solidFill>
                <a:latin typeface="Inter"/>
              </a:rPr>
              <a:t>Live streaming data. Immediate on-the-fly updates.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2996505"/>
            <a:ext cx="4060507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A1128"/>
                </a:solidFill>
                <a:latin typeface="Inter"/>
              </a:rPr>
              <a:t>Bayesian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6550" y="4480470"/>
            <a:ext cx="38671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9999"/>
                </a:solidFill>
                <a:latin typeface="Inter"/>
              </a:rPr>
              <a:t>WHEN TO USE: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6550" y="4680495"/>
            <a:ext cx="38671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A1128"/>
                </a:solidFill>
                <a:latin typeface="Inter"/>
              </a:rPr>
              <a:t>Highly expensive simulations. Critical evaluation limits.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08908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4050" y="3423195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Sequential state update.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723233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4050" y="3737520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Processes sample-by-sample.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37558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4050" y="4051845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Real-time parameter tracking.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3408908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3423195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Gaussian Process surrogate.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9900" y="3723233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5150" y="3737520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Sample-efficient search optimization.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4037558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5150" y="4051845"/>
            <a:ext cx="3638550" cy="2000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Balances exploration against exploitation.</a:t>
            </a:r>
          </a:p>
        </p:txBody>
      </p:sp>
      <p:pic>
        <p:nvPicPr>
          <p:cNvPr id="24" name="Copied Picture 24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B4A9F052-FF9E-FC8B-71AB-1AE7D1B42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92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1-Node Testbed Benchmark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967454"/>
            <a:ext cx="10972800" cy="2633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5674965"/>
            <a:ext cx="7620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800" b="0" i="0" u="none" dirty="0">
                <a:solidFill>
                  <a:srgbClr val="0A1128"/>
                </a:solidFill>
                <a:latin typeface="Inter Medium"/>
              </a:rPr>
              <a:t>Second-best accuracy behind EKF (1.44% vs 1.28% median). Zero convergence failures. 0.77 </a:t>
            </a:r>
            <a:r>
              <a:rPr lang="en-GB" sz="1800" b="0" i="0" u="none" dirty="0" err="1">
                <a:solidFill>
                  <a:srgbClr val="0A1128"/>
                </a:solidFill>
                <a:latin typeface="Inter Medium"/>
              </a:rPr>
              <a:t>ms</a:t>
            </a:r>
            <a:r>
              <a:rPr lang="en-GB" sz="1800" b="0" i="0" u="none" dirty="0">
                <a:solidFill>
                  <a:srgbClr val="0A1128"/>
                </a:solidFill>
                <a:latin typeface="Inter Medium"/>
              </a:rPr>
              <a:t> — 14× faster than the next-best solver.</a:t>
            </a:r>
            <a:endParaRPr sz="1800" b="0" i="0" u="none" dirty="0">
              <a:solidFill>
                <a:srgbClr val="0A1128"/>
              </a:solidFill>
              <a:latin typeface="Inter Medium"/>
            </a:endParaRPr>
          </a:p>
        </p:txBody>
      </p:sp>
      <p:pic>
        <p:nvPicPr>
          <p:cNvPr id="6" name="Copied Picture 6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23AE-E0B7-0EC7-7EEF-BF02ACD9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97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2-Node Testbed Benchmark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967454"/>
            <a:ext cx="10972800" cy="2633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5674965"/>
            <a:ext cx="85725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dirty="0"/>
              <a:t>Best accuracy on </a:t>
            </a:r>
            <a:r>
              <a:rPr lang="en-GB" dirty="0" err="1"/>
              <a:t>hA</a:t>
            </a:r>
            <a:r>
              <a:rPr lang="en-GB" dirty="0"/>
              <a:t> (1.29% median MAPE). EKF leads on the harder </a:t>
            </a:r>
            <a:r>
              <a:rPr lang="en-GB" dirty="0" err="1"/>
              <a:t>k_wh</a:t>
            </a:r>
            <a:r>
              <a:rPr lang="en-GB" dirty="0"/>
              <a:t> (1.20% vs 3.13%). 18.6× faster than the next best solver. Only method with 100% convergence on both parameters.</a:t>
            </a:r>
            <a:endParaRPr sz="1800" b="0" i="0" u="none" dirty="0">
              <a:solidFill>
                <a:srgbClr val="0A1128"/>
              </a:solidFill>
              <a:latin typeface="Inter Medium"/>
            </a:endParaRPr>
          </a:p>
        </p:txBody>
      </p:sp>
      <p:pic>
        <p:nvPicPr>
          <p:cNvPr id="6" name="Copied Picture 6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82E5E-3BDB-D0E4-32E7-613BA8AC5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1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Speed vs. Accuracy Trade-off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352497"/>
            <a:ext cx="10972800" cy="458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92547" y="6081388"/>
            <a:ext cx="7806906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dirty="0"/>
              <a:t>Bottom-left quadrant: only MLP and EKF combine low error with low latency. MLP at 0.77 </a:t>
            </a:r>
            <a:r>
              <a:rPr lang="en-GB" dirty="0" err="1"/>
              <a:t>ms</a:t>
            </a:r>
            <a:r>
              <a:rPr lang="en-GB" dirty="0"/>
              <a:t>, three orders of magnitude below the population heuristics.</a:t>
            </a:r>
            <a:endParaRPr lang="en-GB" sz="165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6" name="Copied Picture 6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57B0-D235-C806-2340-2B99E7620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229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DIMENSIONALITY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Inter"/>
              </a:rPr>
              <a:t>Scalability Penalty (1 → 2 Parameters)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352497"/>
            <a:ext cx="10972800" cy="4588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6188719"/>
            <a:ext cx="7620000" cy="1238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dirty="0"/>
              <a:t>GA, PSO and LM pay a 17–19× latency penalty for one extra parameter. MLP (1.15×) and EKF (1.27×) are essentially unaffected; </a:t>
            </a:r>
            <a:r>
              <a:rPr lang="en-GB" sz="1600" dirty="0" err="1"/>
              <a:t>BayesOpt</a:t>
            </a:r>
            <a:r>
              <a:rPr lang="en-GB" sz="1600" dirty="0"/>
              <a:t> sits between at 2.3×.</a:t>
            </a:r>
          </a:p>
          <a:p>
            <a:pPr algn="ctr"/>
            <a:br>
              <a:rPr lang="en-GB" sz="1600" dirty="0"/>
            </a:br>
            <a:endParaRPr lang="en-GB" sz="1600" dirty="0"/>
          </a:p>
          <a:p>
            <a:pPr algn="ctr"/>
            <a:endParaRPr sz="165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6" name="Copied Picture 6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2754B-E463-6114-5C5C-F0AEC34C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2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327820"/>
          <a:ext cx="10668000" cy="2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3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Observation Window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Closed-Form Physics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Residual MLP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00028"/>
                          </a:solidFill>
                          <a:latin typeface="Inter SemiBold"/>
                        </a:rPr>
                        <a:t>10% (300 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F4444"/>
                          </a:solidFill>
                          <a:latin typeface="Inter"/>
                        </a:rPr>
                        <a:t>58.3%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9999"/>
                          </a:solidFill>
                          <a:latin typeface="Inter"/>
                        </a:rPr>
                        <a:t>23.5%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20% (600 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F59E0B"/>
                          </a:solidFill>
                          <a:latin typeface="Inter"/>
                        </a:rPr>
                        <a:t>21.1%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09999"/>
                          </a:solidFill>
                          <a:latin typeface="Inter"/>
                        </a:rPr>
                        <a:t>13.5%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50% (1500 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4.7%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3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 SemiBold"/>
                        </a:rPr>
                        <a:t>100% (3005 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00028"/>
                          </a:solidFill>
                          <a:latin typeface="Inter"/>
                        </a:rPr>
                        <a:t>1.79%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00028"/>
                          </a:solidFill>
                          <a:latin typeface="Inter"/>
                        </a:rPr>
                        <a:t>1.81%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90600" y="5242470"/>
            <a:ext cx="10439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00028"/>
                </a:solidFill>
                <a:latin typeface="Inter"/>
              </a:rPr>
              <a:t>On a fully settled window the closed-form estimator is already near-optimal and the network only matches it. </a:t>
            </a:r>
            <a:r>
              <a:rPr sz="1500" b="1" i="0" u="none">
                <a:solidFill>
                  <a:srgbClr val="000028"/>
                </a:solidFill>
                <a:latin typeface="Inter"/>
              </a:rPr>
              <a:t>The gap opens widely as the window shortens</a:t>
            </a:r>
            <a:r>
              <a:rPr sz="1500" b="0" i="0" u="none">
                <a:solidFill>
                  <a:srgbClr val="000028"/>
                </a:solidFill>
                <a:latin typeface="Inter"/>
              </a:rPr>
              <a:t> — precisely the regime a live calibration operates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5242470"/>
            <a:ext cx="38100" cy="5715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2000" y="278978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7897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7897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2000" y="330413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30413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330413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2000" y="381848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38184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38184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433283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33283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433283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2000" y="4847183"/>
            <a:ext cx="4267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48471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4847183"/>
            <a:ext cx="3200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6FD88E-4CFC-A65A-7C40-6B8678EFB9C0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4000E4-BFCD-C4C2-4ECB-38D5D3AA0FD7}"/>
              </a:ext>
            </a:extLst>
          </p:cNvPr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chemeClr val="bg1">
                    <a:lumMod val="85000"/>
                  </a:schemeClr>
                </a:solidFill>
                <a:latin typeface="Inter"/>
              </a:rPr>
              <a:t>EVALUATION</a:t>
            </a:r>
            <a:endParaRPr sz="1200" b="1" i="0" u="none" dirty="0">
              <a:solidFill>
                <a:schemeClr val="bg1">
                  <a:lumMod val="85000"/>
                </a:schemeClr>
              </a:solidFill>
              <a:latin typeface="Inter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5315D4-F1C8-8C31-C4C7-118759AA1632}"/>
              </a:ext>
            </a:extLst>
          </p:cNvPr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GB" sz="3000" b="1" i="0" u="none" dirty="0">
                <a:solidFill>
                  <a:schemeClr val="bg1"/>
                </a:solidFill>
                <a:latin typeface="Inter"/>
              </a:rPr>
              <a:t>Where the Learning Actually Pays Off</a:t>
            </a:r>
            <a:endParaRPr sz="3000" b="1" i="0" u="none" dirty="0">
              <a:solidFill>
                <a:schemeClr val="bg1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973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012C26E-D814-1308-8AB1-446AAB89F6B7}"/>
              </a:ext>
            </a:extLst>
          </p:cNvPr>
          <p:cNvSpPr/>
          <p:nvPr/>
        </p:nvSpPr>
        <p:spPr>
          <a:xfrm>
            <a:off x="0" y="0"/>
            <a:ext cx="12192000" cy="1835727"/>
          </a:xfrm>
          <a:prstGeom prst="rect">
            <a:avLst/>
          </a:prstGeom>
          <a:solidFill>
            <a:srgbClr val="0A11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2955194"/>
            <a:ext cx="3454449" cy="243693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849" y="2953642"/>
            <a:ext cx="3454449" cy="24369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953642"/>
            <a:ext cx="3454449" cy="24384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bg1">
                    <a:lumMod val="85000"/>
                  </a:schemeClr>
                </a:solidFill>
                <a:latin typeface="Inter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chemeClr val="bg1"/>
                </a:solidFill>
                <a:latin typeface="Inter"/>
              </a:rPr>
              <a:t>Conclusions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58442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791842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dirty="0">
                <a:solidFill>
                  <a:srgbClr val="0F172A"/>
                </a:solidFill>
                <a:latin typeface="Inter"/>
              </a:rPr>
              <a:t>The ML Advantage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8533"/>
            <a:ext cx="2844849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1400" dirty="0"/>
              <a:t>Zero simulator rollouts per calibration, against 520–1 100 for the population heuristics — the search cost is paid once, offline.</a:t>
            </a:r>
            <a:endParaRPr sz="1350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3649" y="3776587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 dirty="0">
                <a:solidFill>
                  <a:srgbClr val="0F172A"/>
                </a:solidFill>
                <a:latin typeface="Inter"/>
              </a:rPr>
              <a:t>Superior 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49" y="4218532"/>
            <a:ext cx="2844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475569"/>
                </a:solidFill>
                <a:latin typeface="Inter"/>
              </a:rPr>
              <a:t>100% convergence success rate. Immune to randomized initialization faults.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99" y="3258442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2899" y="3791842"/>
            <a:ext cx="298709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1" i="0" u="none">
                <a:solidFill>
                  <a:srgbClr val="0F172A"/>
                </a:solidFill>
                <a:latin typeface="Inter"/>
              </a:rPr>
              <a:t>Edge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4218533"/>
            <a:ext cx="2844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Predictable sub-millisecond latency. Viable for constrained edge deployment.</a:t>
            </a:r>
          </a:p>
        </p:txBody>
      </p:sp>
      <p:pic>
        <p:nvPicPr>
          <p:cNvPr id="15" name="Copied Picture 15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68B1C8FB-8636-A60E-D06A-08649973C1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649" y="3276600"/>
            <a:ext cx="266700" cy="304800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66E6FDD-3229-6482-6E8C-1BE78258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9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0091F-F662-AA5B-3E1A-1E1A2AF9F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803D39-ACC9-270D-1548-2EC835B2B48C}"/>
              </a:ext>
            </a:extLst>
          </p:cNvPr>
          <p:cNvSpPr txBox="1"/>
          <p:nvPr/>
        </p:nvSpPr>
        <p:spPr>
          <a:xfrm>
            <a:off x="4345781" y="2067817"/>
            <a:ext cx="3500437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F8FAFC"/>
                </a:solidFill>
                <a:latin typeface="Inter"/>
              </a:rPr>
              <a:t>Thank you.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7EFB6-6902-B60B-93BA-5E0D7CFD4973}"/>
              </a:ext>
            </a:extLst>
          </p:cNvPr>
          <p:cNvSpPr/>
          <p:nvPr/>
        </p:nvSpPr>
        <p:spPr>
          <a:xfrm>
            <a:off x="5791200" y="3027908"/>
            <a:ext cx="6096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06C75-56DA-375D-C848-445FE6B25C1C}"/>
              </a:ext>
            </a:extLst>
          </p:cNvPr>
          <p:cNvSpPr txBox="1"/>
          <p:nvPr/>
        </p:nvSpPr>
        <p:spPr>
          <a:xfrm>
            <a:off x="4562475" y="3447008"/>
            <a:ext cx="30670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94A3B8"/>
                </a:solidFill>
                <a:latin typeface="Inter"/>
              </a:rPr>
              <a:t>alexandra.titel17@gmail.com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DDF49-4130-87EA-C707-60E6029CD420}"/>
              </a:ext>
            </a:extLst>
          </p:cNvPr>
          <p:cNvSpPr txBox="1"/>
          <p:nvPr/>
        </p:nvSpPr>
        <p:spPr>
          <a:xfrm>
            <a:off x="4395787" y="3799433"/>
            <a:ext cx="3400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github.com/titelaex/ParamsCalibrator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2A1C2-CBF5-4B31-11E9-278E9496D439}"/>
              </a:ext>
            </a:extLst>
          </p:cNvPr>
          <p:cNvSpPr txBox="1"/>
          <p:nvPr/>
        </p:nvSpPr>
        <p:spPr>
          <a:xfrm>
            <a:off x="3952875" y="4523333"/>
            <a:ext cx="4705350" cy="723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Mathematical Optimization &amp; Data Processing for Physical Constant Calibration via ML</a:t>
            </a:r>
          </a:p>
          <a:p>
            <a:pPr algn="ctr"/>
            <a:endParaRPr sz="1500" b="0" i="0" u="none" dirty="0">
              <a:solidFill>
                <a:srgbClr val="F8FAFC"/>
              </a:solidFill>
              <a:latin typeface="In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82143F8-40AD-7D81-35F7-EA045F4C6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95" y="6216770"/>
            <a:ext cx="1231817" cy="509495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756321-3AB9-DD87-65BB-C87B81E00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3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2438" y="620017"/>
            <a:ext cx="3500437" cy="73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i="0" u="none" dirty="0">
                <a:solidFill>
                  <a:srgbClr val="F8FAFC"/>
                </a:solidFill>
                <a:latin typeface="Inter"/>
              </a:rPr>
              <a:t>References</a:t>
            </a:r>
            <a:endParaRPr sz="4800" b="1" i="0" u="none" dirty="0">
              <a:solidFill>
                <a:srgbClr val="F8FAFC"/>
              </a:solidFill>
              <a:latin typeface="Inter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38200" y="1351507"/>
            <a:ext cx="609600" cy="38100"/>
          </a:xfrm>
          <a:prstGeom prst="rect">
            <a:avLst/>
          </a:prstGeom>
          <a:solidFill>
            <a:srgbClr val="00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8200" y="2468934"/>
            <a:ext cx="9202233" cy="27699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https://scikit-learn.org/stable/modules/generated/sklearn.neural_network.MLPRegressor.html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</a:rPr>
              <a:t>https://numpy.org/doc/stable/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https://en.wikipedia.org/wiki/Lumped-element_model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https://en.wikipedia.org/wiki/Joule_heating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https://en.wikipedia.org/wiki/Levenberg%E2%80%93Marquardt_algorithm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https://en.wikipedia.org/wiki/Genetic_algorithm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https://en.wikipedia.org/wiki/Particle_swarm_optimization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https://en.wikipedia.org/wiki/Extended_Kalman_filter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95000"/>
                  </a:schemeClr>
                </a:solidFill>
                <a:latin typeface="Inter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https://en.wikipedia.org/wiki/Bayesian_optimization</a:t>
            </a:r>
            <a:endParaRPr lang="en-GB" dirty="0">
              <a:solidFill>
                <a:schemeClr val="bg1">
                  <a:lumMod val="95000"/>
                </a:schemeClr>
              </a:solidFill>
              <a:latin typeface="Int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1800" b="0" i="0" u="none" dirty="0">
              <a:solidFill>
                <a:schemeClr val="bg1">
                  <a:lumMod val="95000"/>
                </a:schemeClr>
              </a:solidFill>
              <a:latin typeface="Inter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158EE0-CCDD-0064-C364-8BD07D0E64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4995" y="6216770"/>
            <a:ext cx="1231817" cy="509495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C32CEC5-FA5E-8002-9746-096F2AE9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19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3E06A1-5967-2DCE-FD85-BCA5B112FCB1}"/>
              </a:ext>
            </a:extLst>
          </p:cNvPr>
          <p:cNvSpPr/>
          <p:nvPr/>
        </p:nvSpPr>
        <p:spPr>
          <a:xfrm>
            <a:off x="1295400" y="4511702"/>
            <a:ext cx="10287000" cy="1420483"/>
          </a:xfrm>
          <a:prstGeom prst="roundRect">
            <a:avLst>
              <a:gd name="adj" fmla="val 6865"/>
            </a:avLst>
          </a:prstGeom>
          <a:solidFill>
            <a:schemeClr val="bg1"/>
          </a:solidFill>
          <a:ln>
            <a:solidFill>
              <a:srgbClr val="0099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7566251-D920-28FE-115D-92D4FF9D0BBF}"/>
              </a:ext>
            </a:extLst>
          </p:cNvPr>
          <p:cNvSpPr/>
          <p:nvPr/>
        </p:nvSpPr>
        <p:spPr>
          <a:xfrm>
            <a:off x="1295400" y="3234546"/>
            <a:ext cx="10287000" cy="1076320"/>
          </a:xfrm>
          <a:prstGeom prst="roundRect">
            <a:avLst>
              <a:gd name="adj" fmla="val 68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E4747E-4974-DA33-2B60-3D93A26AC4FA}"/>
              </a:ext>
            </a:extLst>
          </p:cNvPr>
          <p:cNvSpPr/>
          <p:nvPr/>
        </p:nvSpPr>
        <p:spPr>
          <a:xfrm>
            <a:off x="1295400" y="1957390"/>
            <a:ext cx="10287000" cy="1076320"/>
          </a:xfrm>
          <a:prstGeom prst="roundRect">
            <a:avLst>
              <a:gd name="adj" fmla="val 686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66950"/>
            <a:ext cx="45720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433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9911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2390775"/>
            <a:ext cx="99060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667125"/>
            <a:ext cx="990600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950" y="4962525"/>
            <a:ext cx="986790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9999"/>
                </a:solidFill>
                <a:latin typeface="Inter"/>
              </a:rPr>
              <a:t>ENERGY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239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28"/>
                </a:solidFill>
                <a:latin typeface="Inter"/>
              </a:rPr>
              <a:t>Deriving the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5900" y="2124075"/>
            <a:ext cx="990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 SemiBold"/>
              </a:rPr>
              <a:t>System differential equation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3400425"/>
            <a:ext cx="9906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B7280"/>
                </a:solidFill>
                <a:latin typeface="Inter SemiBold"/>
              </a:rPr>
              <a:t>Integrate from 0 to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4950" y="4695825"/>
            <a:ext cx="9867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9999"/>
                </a:solidFill>
                <a:latin typeface="Inter SemiBold"/>
              </a:rPr>
              <a:t>Linear rearrangement (y = mx + intercept)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5553075"/>
            <a:ext cx="9867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009999"/>
                </a:solidFill>
                <a:latin typeface="Inter"/>
              </a:rPr>
              <a:t>→ hA is literally the slope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2400" y="3781425"/>
            <a:ext cx="457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JetBrains Mono"/>
              </a:rPr>
              <a:t>E(t)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0" y="3781425"/>
            <a:ext cx="4572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JetBrains Mono"/>
              </a:rPr>
              <a:t>S(t)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2850" y="5076825"/>
            <a:ext cx="228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DD4BF"/>
                </a:solidFill>
                <a:latin typeface="JetBrains Mono"/>
              </a:rPr>
              <a:t>hA</a:t>
            </a:r>
          </a:p>
        </p:txBody>
      </p:sp>
      <p:pic>
        <p:nvPicPr>
          <p:cNvPr id="28" name="Copied Picture 7">
            <a:extLst>
              <a:ext uri="{FF2B5EF4-FFF2-40B4-BE49-F238E27FC236}">
                <a16:creationId xmlns:a16="http://schemas.microsoft.com/office/drawing/2014/main" id="{A53998DB-CA5E-37F7-9F85-C0DF448D4A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9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4112"/>
            <a:ext cx="5314950" cy="3038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2557462"/>
            <a:ext cx="5353050" cy="2771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4737"/>
            <a:ext cx="4705350" cy="1543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3929062"/>
            <a:ext cx="4705350" cy="1095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9999"/>
                </a:solidFill>
                <a:latin typeface="Inter"/>
              </a:rPr>
              <a:t>PHYSICAL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239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28"/>
                </a:solidFill>
                <a:latin typeface="Inter"/>
              </a:rPr>
              <a:t>Why exactly 63.2%?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28912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00028"/>
                </a:solidFill>
                <a:latin typeface="Inter"/>
              </a:rPr>
              <a:t>The Analytical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8962"/>
            <a:ext cx="4705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B5563"/>
                </a:solidFill>
                <a:latin typeface="Inter"/>
              </a:rPr>
              <a:t>For a first-order step response, at exact time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0" y="2862262"/>
            <a:ext cx="494061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00028"/>
                </a:solidFill>
                <a:latin typeface="Inter"/>
              </a:rPr>
              <a:t>The Time Constant (τ)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3262312"/>
            <a:ext cx="4705350" cy="4945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4B5563"/>
                </a:solidFill>
                <a:latin typeface="Inter"/>
              </a:rPr>
              <a:t>The moment you cover 63.2% of the rise is, by definition, the time constant.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06" y="3724993"/>
            <a:ext cx="62865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4900" y="3960514"/>
            <a:ext cx="4324350" cy="305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350" b="0" i="0" u="none" dirty="0">
                <a:solidFill>
                  <a:srgbClr val="9CA3AF"/>
                </a:solidFill>
                <a:latin typeface="Aptos Mono" panose="020F0502020204030204" pitchFamily="49" charset="0"/>
              </a:rPr>
              <a:t>T(t) = </a:t>
            </a:r>
            <a:r>
              <a:rPr sz="1350" b="0" i="0" u="none" dirty="0" err="1">
                <a:solidFill>
                  <a:srgbClr val="9CA3AF"/>
                </a:solidFill>
                <a:latin typeface="Aptos Mono" panose="020F0502020204030204" pitchFamily="49" charset="0"/>
              </a:rPr>
              <a:t>T_ss</a:t>
            </a:r>
            <a:r>
              <a:rPr sz="1350" b="0" i="0" u="none" dirty="0">
                <a:solidFill>
                  <a:srgbClr val="9CA3AF"/>
                </a:solidFill>
                <a:latin typeface="Aptos Mono" panose="020F0502020204030204" pitchFamily="49" charset="0"/>
              </a:rPr>
              <a:t> + (T0 - </a:t>
            </a:r>
            <a:r>
              <a:rPr sz="1350" b="0" i="0" u="none" dirty="0" err="1">
                <a:solidFill>
                  <a:srgbClr val="9CA3AF"/>
                </a:solidFill>
                <a:latin typeface="Aptos Mono" panose="020F0502020204030204" pitchFamily="49" charset="0"/>
              </a:rPr>
              <a:t>T_ss</a:t>
            </a:r>
            <a:r>
              <a:rPr sz="1350" b="0" i="0" u="none" dirty="0">
                <a:solidFill>
                  <a:srgbClr val="9CA3AF"/>
                </a:solidFill>
                <a:latin typeface="Aptos Mono" panose="020F0502020204030204" pitchFamily="49" charset="0"/>
              </a:rPr>
              <a:t>) · e-t/τ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4157662"/>
            <a:ext cx="4248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9999"/>
                </a:solidFill>
                <a:latin typeface="Inter SemiBold"/>
              </a:rPr>
              <a:t>Measure time → Obtain 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4500562"/>
            <a:ext cx="4248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28"/>
                </a:solidFill>
                <a:latin typeface="JetBrains Mono"/>
              </a:rPr>
              <a:t>hA = C / τ</a:t>
            </a:r>
          </a:p>
        </p:txBody>
      </p:sp>
      <p:pic>
        <p:nvPicPr>
          <p:cNvPr id="18" name="Copied Picture 7">
            <a:extLst>
              <a:ext uri="{FF2B5EF4-FFF2-40B4-BE49-F238E27FC236}">
                <a16:creationId xmlns:a16="http://schemas.microsoft.com/office/drawing/2014/main" id="{18E526C0-1D3D-DC84-7DC3-1F1C1DB187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53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9999"/>
                </a:solidFill>
                <a:latin typeface="Inter"/>
              </a:rPr>
              <a:t>CALCULATION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239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00028"/>
                </a:solidFill>
                <a:latin typeface="Inter"/>
              </a:rPr>
              <a:t>Estimator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937249"/>
              </p:ext>
            </p:extLst>
          </p:nvPr>
        </p:nvGraphicFramePr>
        <p:xfrm>
          <a:off x="609600" y="2921000"/>
          <a:ext cx="109728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0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5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0000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 SemiBold"/>
                        </a:rPr>
                        <a:t>Estimator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solidFill>
                      <a:srgbClr val="0B0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FFFFFF"/>
                          </a:solidFill>
                          <a:latin typeface="Inter SemiBold"/>
                        </a:rPr>
                        <a:t>Formula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solidFill>
                      <a:srgbClr val="0B0B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FFFFFF"/>
                          </a:solidFill>
                          <a:latin typeface="Inter SemiBold"/>
                        </a:rPr>
                        <a:t>Information Used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solidFill>
                      <a:srgbClr val="0B0B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F2937"/>
                          </a:solidFill>
                          <a:latin typeface="Inter"/>
                        </a:rPr>
                        <a:t>hA_energy_balance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1F2937"/>
                          </a:solidFill>
                          <a:latin typeface="Inter"/>
                        </a:rPr>
                        <a:t>Slope of E(t) - C·T(t) vs ∫(T - </a:t>
                      </a:r>
                      <a:r>
                        <a:rPr sz="1400" b="0" i="0" u="none" dirty="0" err="1">
                          <a:solidFill>
                            <a:srgbClr val="1F2937"/>
                          </a:solidFill>
                          <a:latin typeface="Inter"/>
                        </a:rPr>
                        <a:t>T_amb</a:t>
                      </a:r>
                      <a:r>
                        <a:rPr sz="1400" b="0" i="0" u="none" dirty="0">
                          <a:solidFill>
                            <a:srgbClr val="1F2937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4B5563"/>
                          </a:solidFill>
                          <a:latin typeface="Inter"/>
                        </a:rPr>
                        <a:t>Entire trajectory</a:t>
                      </a:r>
                      <a:r>
                        <a:rPr sz="1400" b="0" i="0" u="none">
                          <a:solidFill>
                            <a:srgbClr val="4B5563"/>
                          </a:solidFill>
                          <a:latin typeface="Inter"/>
                        </a:rPr>
                        <a:t> (integrated)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F2937"/>
                          </a:solidFill>
                          <a:latin typeface="Inter"/>
                        </a:rPr>
                        <a:t>hA_steady_state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 err="1">
                          <a:solidFill>
                            <a:srgbClr val="1F2937"/>
                          </a:solidFill>
                          <a:latin typeface="Inter"/>
                        </a:rPr>
                        <a:t>P_mean</a:t>
                      </a:r>
                      <a:r>
                        <a:rPr sz="1400" b="0" i="0" u="none" dirty="0">
                          <a:solidFill>
                            <a:srgbClr val="1F2937"/>
                          </a:solidFill>
                          <a:latin typeface="Inter"/>
                        </a:rPr>
                        <a:t> / (</a:t>
                      </a:r>
                      <a:r>
                        <a:rPr sz="1400" b="0" i="0" u="none" dirty="0" err="1">
                          <a:solidFill>
                            <a:srgbClr val="1F2937"/>
                          </a:solidFill>
                          <a:latin typeface="Inter"/>
                        </a:rPr>
                        <a:t>T_end</a:t>
                      </a:r>
                      <a:r>
                        <a:rPr sz="1400" b="0" i="0" u="none" dirty="0">
                          <a:solidFill>
                            <a:srgbClr val="1F2937"/>
                          </a:solidFill>
                          <a:latin typeface="Inter"/>
                        </a:rPr>
                        <a:t> - </a:t>
                      </a:r>
                      <a:r>
                        <a:rPr sz="1400" b="0" i="0" u="none" dirty="0" err="1">
                          <a:solidFill>
                            <a:srgbClr val="1F2937"/>
                          </a:solidFill>
                          <a:latin typeface="Inter"/>
                        </a:rPr>
                        <a:t>T_amb</a:t>
                      </a:r>
                      <a:r>
                        <a:rPr sz="1400" b="0" i="0" u="none" dirty="0">
                          <a:solidFill>
                            <a:srgbClr val="1F2937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4B5563"/>
                          </a:solidFill>
                          <a:latin typeface="Inter"/>
                        </a:rPr>
                        <a:t>Final level only</a:t>
                      </a:r>
                      <a:r>
                        <a:rPr sz="1400" b="0" i="0" u="none">
                          <a:solidFill>
                            <a:srgbClr val="4B5563"/>
                          </a:solidFill>
                          <a:latin typeface="Inter"/>
                        </a:rPr>
                        <a:t> (settled)</a:t>
                      </a:r>
                    </a:p>
                  </a:txBody>
                  <a:tcPr anchor="ctr">
                    <a:lnL w="3175"/>
                    <a:lnR w="3175"/>
                    <a:lnT w="3175"/>
                    <a:lnB w="6350" cap="flat">
                      <a:prstDash val="soli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F2937"/>
                          </a:solidFill>
                          <a:latin typeface="Inter"/>
                        </a:rPr>
                        <a:t>hA_from_tau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1F2937"/>
                          </a:solidFill>
                          <a:latin typeface="Inter"/>
                        </a:rPr>
                        <a:t>C / τ_63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 dirty="0">
                          <a:solidFill>
                            <a:srgbClr val="4B5563"/>
                          </a:solidFill>
                          <a:latin typeface="Inter"/>
                        </a:rPr>
                        <a:t>Rising speed only</a:t>
                      </a:r>
                      <a:r>
                        <a:rPr sz="1400" b="0" i="0" u="none" dirty="0">
                          <a:solidFill>
                            <a:srgbClr val="4B5563"/>
                          </a:solidFill>
                          <a:latin typeface="Inter"/>
                        </a:rPr>
                        <a:t> (transition)</a:t>
                      </a:r>
                    </a:p>
                  </a:txBody>
                  <a:tcPr anchor="ctr">
                    <a:lnL w="3175"/>
                    <a:lnR w="3175"/>
                    <a:lnT w="3175"/>
                    <a:lnB w="3175"/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Copied Picture 7">
            <a:extLst>
              <a:ext uri="{FF2B5EF4-FFF2-40B4-BE49-F238E27FC236}">
                <a16:creationId xmlns:a16="http://schemas.microsoft.com/office/drawing/2014/main" id="{2A03099C-6C55-DE5D-1D3D-8A6F4F545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532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457200"/>
            <a:ext cx="109728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  <a:latin typeface="Inter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7700"/>
            <a:ext cx="11521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Inter"/>
              </a:rPr>
              <a:t>Execution Speed Distribution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" y="1352497"/>
            <a:ext cx="10972800" cy="4588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20044" y="6041613"/>
            <a:ext cx="775191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dirty="0"/>
              <a:t>Deterministic output: identical input yields an identical estimate on every run — no random restarts, no initialization sensitivity. Latency stays tightly bounded.</a:t>
            </a:r>
            <a:endParaRPr dirty="0">
              <a:solidFill>
                <a:srgbClr val="0A1128"/>
              </a:solidFill>
              <a:latin typeface="Inter Medium"/>
            </a:endParaRPr>
          </a:p>
        </p:txBody>
      </p:sp>
      <p:pic>
        <p:nvPicPr>
          <p:cNvPr id="7" name="Copied Picture 7">
            <a:extLst>
              <a:ext uri="{FF2B5EF4-FFF2-40B4-BE49-F238E27FC236}">
                <a16:creationId xmlns:a16="http://schemas.microsoft.com/office/drawing/2014/main" id="{B311F591-449D-F658-283A-40502251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0" y="6318612"/>
            <a:ext cx="1231900" cy="31677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34DBEC-11E3-BC8C-7A36-A9208FFC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C1FF6DA9-008F-8B48-92A6-B652298478BF}" type="slidenum">
              <a:rPr lang="en-US" smtClean="0"/>
              <a:pPr algn="l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06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 [1787591371040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01329E5-E4B6-468D-B387-000EC409442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73785f9-d6d4-430c-a0b9-f718eb4aa39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1459</Words>
  <Application>Microsoft Office PowerPoint</Application>
  <PresentationFormat>Widescreen</PresentationFormat>
  <Paragraphs>258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</vt:lpstr>
      <vt:lpstr>Aptos Mono</vt:lpstr>
      <vt:lpstr>Arial</vt:lpstr>
      <vt:lpstr>Calibri</vt:lpstr>
      <vt:lpstr>Inter</vt:lpstr>
      <vt:lpstr>Inter Medium</vt:lpstr>
      <vt:lpstr>Inter SemiBold</vt:lpstr>
      <vt:lpstr>JetBrains Mono</vt:lpstr>
      <vt:lpstr>Space Grotesk</vt:lpstr>
      <vt:lpstr>Space Grotesk Medium</vt:lpstr>
      <vt:lpstr>Office Theme [1787591371040]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TITEL ALEXANDRA-MARIA</cp:lastModifiedBy>
  <cp:revision>18</cp:revision>
  <dcterms:created xsi:type="dcterms:W3CDTF">2013-01-27T09:14:16Z</dcterms:created>
  <dcterms:modified xsi:type="dcterms:W3CDTF">2026-08-26T19:38:45Z</dcterms:modified>
  <cp:category/>
</cp:coreProperties>
</file>